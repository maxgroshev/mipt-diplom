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7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76"/>
    <p:restoredTop sz="96311"/>
  </p:normalViewPr>
  <p:slideViewPr>
    <p:cSldViewPr snapToGrid="0">
      <p:cViewPr varScale="1">
        <p:scale>
          <a:sx n="119" d="100"/>
          <a:sy n="119" d="100"/>
        </p:scale>
        <p:origin x="224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AA44DC-848B-D1F6-BBA8-EF33FAD198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0E8DB-DBA5-FF86-2401-3B82847FC8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340AA-E0B2-474B-9F8C-858D6BA4620A}" type="datetimeFigureOut">
              <a:rPr lang="en-RU" smtClean="0"/>
              <a:t>15.06.2026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EE9A85-818C-F21C-6392-FE87BDD9C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RU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7C5F0-02FE-7107-892F-6608D67EBC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D4F92-6B2E-8B4D-85A5-493E688093E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6830740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RU"/>
              <a:t>1</a:t>
            </a:r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8E87A-F116-D135-495B-5D1F392B6A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RU"/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CCB12-1AF8-37DA-02A5-542AB2CA72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RU"/>
              <a:t>1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1DA16-8349-8452-B75A-188BF8EA40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RU"/>
              <a:t>1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88027-EA0B-FC46-517C-B333085078E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RU"/>
              <a:t>1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413C-B371-0577-6B50-B385767DF35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RU"/>
              <a:t>1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EC878-49A1-EEEE-6026-DEBB0F5F55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RU"/>
              <a:t>1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AA88F-8FC8-05FE-38D8-B24E1654F3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RU"/>
              <a:t>1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1D7C4-284D-9A2D-25B5-D7772AA862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RU"/>
              <a:t>1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B4E75-9AC8-AB3F-6E5C-C69B1ED3C5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RU"/>
              <a:t>1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ackground">
            <a:extLst>
              <a:ext uri="{FF2B5EF4-FFF2-40B4-BE49-F238E27FC236}">
                <a16:creationId xmlns:a16="http://schemas.microsoft.com/office/drawing/2014/main" id="{7C33B5AE-5834-4610-B8B4-FCE771A5C01B}"/>
              </a:ext>
            </a:extLst>
          </p:cNvPr>
          <p:cNvSpPr>
            <a:spLocks noGrp="1"/>
          </p:cNvSpPr>
          <p:nvPr/>
        </p:nvSpPr>
        <p:spPr>
          <a:xfrm>
            <a:off x="-9523" y="0"/>
            <a:ext cx="12192000" cy="6858000"/>
          </a:xfrm>
          <a:prstGeom prst="rect">
            <a:avLst/>
          </a:prstGeom>
          <a:solidFill>
            <a:srgbClr val="F7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RU" dirty="0"/>
              <a:t>1</a:t>
            </a:r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E56BEA31-2A67-46D5-ABD0-C7334DADC4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footer-rule">
            <a:extLst>
              <a:ext uri="{FF2B5EF4-FFF2-40B4-BE49-F238E27FC236}">
                <a16:creationId xmlns:a16="http://schemas.microsoft.com/office/drawing/2014/main" id="{84D4E847-9BD3-4E69-ADEF-21B25FF0B43B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6858000" cy="9525"/>
          </a:xfrm>
          <a:prstGeom prst="rect">
            <a:avLst/>
          </a:prstGeom>
          <a:solidFill>
            <a:srgbClr val="D8D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63FA05-30B1-4C6F-AF99-6EA5212D90FA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bytecode verifier</a:t>
            </a:r>
          </a:p>
        </p:txBody>
      </p:sp>
      <p:sp>
        <p:nvSpPr>
          <p:cNvPr id="6" name="cover-band">
            <a:extLst>
              <a:ext uri="{FF2B5EF4-FFF2-40B4-BE49-F238E27FC236}">
                <a16:creationId xmlns:a16="http://schemas.microsoft.com/office/drawing/2014/main" id="{1F5B01D8-2C57-46EC-A34B-4F68EC81ED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286250" cy="6858000"/>
          </a:xfrm>
          <a:prstGeom prst="rect">
            <a:avLst/>
          </a:prstGeom>
          <a:solidFill>
            <a:srgbClr val="E7F3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RU" dirty="0"/>
          </a:p>
          <a:p>
            <a:endParaRPr lang="en-RU" dirty="0"/>
          </a:p>
        </p:txBody>
      </p:sp>
      <p:sp>
        <p:nvSpPr>
          <p:cNvPr id="7" name="cover-rule">
            <a:extLst>
              <a:ext uri="{FF2B5EF4-FFF2-40B4-BE49-F238E27FC236}">
                <a16:creationId xmlns:a16="http://schemas.microsoft.com/office/drawing/2014/main" id="{6D1DA7B5-365D-417D-89FE-329E41768873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609600" cy="571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163D91-EF27-4302-A950-5C9259A1365D}"/>
              </a:ext>
            </a:extLst>
          </p:cNvPr>
          <p:cNvSpPr>
            <a:spLocks noGrp="1"/>
          </p:cNvSpPr>
          <p:nvPr/>
        </p:nvSpPr>
        <p:spPr>
          <a:xfrm>
            <a:off x="685800" y="2005012"/>
            <a:ext cx="80962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  <a:ea typeface="Aptos Display"/>
                <a:cs typeface="Aptos Display"/>
              </a:rPr>
              <a:t>Исследование</a:t>
            </a:r>
            <a:r>
              <a:rPr sz="31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1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  <a:ea typeface="Aptos Display"/>
                <a:cs typeface="Aptos Display"/>
              </a:rPr>
              <a:t>и</a:t>
            </a:r>
            <a:r>
              <a:rPr sz="31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1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  <a:ea typeface="Aptos Display"/>
                <a:cs typeface="Aptos Display"/>
              </a:rPr>
              <a:t>разработка</a:t>
            </a:r>
            <a:r>
              <a:rPr sz="31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1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  <a:ea typeface="Aptos Display"/>
                <a:cs typeface="Aptos Display"/>
              </a:rPr>
              <a:t>верификатора</a:t>
            </a:r>
            <a:r>
              <a:rPr sz="31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1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  <a:ea typeface="Aptos Display"/>
                <a:cs typeface="Aptos Display"/>
              </a:rPr>
              <a:t>байткода</a:t>
            </a:r>
            <a:r>
              <a:rPr lang="ru-RU" sz="31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ru-RU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  <a:ea typeface="Aptos Display"/>
                <a:cs typeface="Aptos Display"/>
              </a:rPr>
              <a:t>статически типизированного языка программирования</a:t>
            </a:r>
          </a:p>
          <a:p>
            <a:pPr algn="l">
              <a:def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endParaRPr sz="3150" b="1" dirty="0">
              <a:solidFill>
                <a:srgbClr val="17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3E9DCF-BDF5-4E85-8CB7-B6B889115F36}"/>
              </a:ext>
            </a:extLst>
          </p:cNvPr>
          <p:cNvSpPr>
            <a:spLocks noGrp="1"/>
          </p:cNvSpPr>
          <p:nvPr/>
        </p:nvSpPr>
        <p:spPr>
          <a:xfrm>
            <a:off x="685800" y="3609975"/>
            <a:ext cx="723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546170"/>
                </a:solidFill>
                <a:latin typeface="Aptos Display"/>
                <a:ea typeface="Aptos Display"/>
                <a:cs typeface="Aptos Display"/>
              </a:defRPr>
            </a:pPr>
            <a:endParaRPr sz="2025" b="0" dirty="0">
              <a:solidFill>
                <a:srgbClr val="546170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911F2D-BD1B-435B-B659-687DEECBDEBE}"/>
              </a:ext>
            </a:extLst>
          </p:cNvPr>
          <p:cNvSpPr>
            <a:spLocks noGrp="1"/>
          </p:cNvSpPr>
          <p:nvPr/>
        </p:nvSpPr>
        <p:spPr>
          <a:xfrm>
            <a:off x="7905752" y="4900613"/>
            <a:ext cx="4953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lang="ru-RU" dirty="0">
                <a:solidFill>
                  <a:srgbClr val="0F766E"/>
                </a:solidFill>
                <a:latin typeface="+mj-ea"/>
                <a:ea typeface="+mj-ea"/>
                <a:cs typeface="Aptos"/>
              </a:rPr>
              <a:t>Работу выполнил</a:t>
            </a:r>
            <a:r>
              <a:rPr lang="en-US" dirty="0">
                <a:solidFill>
                  <a:srgbClr val="0F766E"/>
                </a:solidFill>
                <a:latin typeface="+mj-ea"/>
                <a:ea typeface="+mj-ea"/>
                <a:cs typeface="Aptos"/>
              </a:rPr>
              <a:t>: </a:t>
            </a:r>
            <a:r>
              <a:rPr sz="1800" dirty="0" err="1">
                <a:solidFill>
                  <a:srgbClr val="0F766E"/>
                </a:solidFill>
                <a:latin typeface="+mj-ea"/>
                <a:ea typeface="+mj-ea"/>
                <a:cs typeface="Aptos"/>
              </a:rPr>
              <a:t>Грошев</a:t>
            </a:r>
            <a:r>
              <a:rPr sz="1800" dirty="0">
                <a:solidFill>
                  <a:srgbClr val="0F766E"/>
                </a:solidFill>
                <a:latin typeface="+mj-ea"/>
                <a:ea typeface="+mj-ea"/>
                <a:cs typeface="Aptos"/>
              </a:rPr>
              <a:t> </a:t>
            </a:r>
            <a:r>
              <a:rPr lang="ru-RU" dirty="0">
                <a:solidFill>
                  <a:srgbClr val="0F766E"/>
                </a:solidFill>
                <a:latin typeface="+mj-ea"/>
                <a:ea typeface="+mj-ea"/>
                <a:cs typeface="Aptos"/>
              </a:rPr>
              <a:t>М.А.,</a:t>
            </a:r>
            <a:r>
              <a:rPr lang="en-US" dirty="0">
                <a:solidFill>
                  <a:srgbClr val="0F766E"/>
                </a:solidFill>
                <a:latin typeface="+mj-ea"/>
                <a:ea typeface="+mj-ea"/>
                <a:cs typeface="Aptos"/>
              </a:rPr>
              <a:t> </a:t>
            </a:r>
            <a:r>
              <a:rPr lang="ru-RU" sz="1800" dirty="0">
                <a:solidFill>
                  <a:srgbClr val="0F766E"/>
                </a:solidFill>
                <a:latin typeface="+mj-ea"/>
                <a:ea typeface="+mj-ea"/>
                <a:cs typeface="Aptos"/>
              </a:rPr>
              <a:t>Б01-207б</a:t>
            </a:r>
            <a:endParaRPr sz="1800" dirty="0">
              <a:solidFill>
                <a:srgbClr val="0F766E"/>
              </a:solidFill>
              <a:latin typeface="+mj-ea"/>
              <a:ea typeface="+mj-ea"/>
              <a:cs typeface="Aptos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25000" y="1166813"/>
            <a:ext cx="1238250" cy="6191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339113A-49AF-9F34-C4AA-CA06A00E41B2}"/>
              </a:ext>
            </a:extLst>
          </p:cNvPr>
          <p:cNvSpPr>
            <a:spLocks noGrp="1"/>
          </p:cNvSpPr>
          <p:nvPr/>
        </p:nvSpPr>
        <p:spPr>
          <a:xfrm>
            <a:off x="7924800" y="5330304"/>
            <a:ext cx="4953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lang="ru-RU" dirty="0">
                <a:solidFill>
                  <a:srgbClr val="0F766E"/>
                </a:solidFill>
                <a:latin typeface="+mj-ea"/>
                <a:ea typeface="+mj-ea"/>
                <a:cs typeface="Aptos"/>
              </a:rPr>
              <a:t>Научный руководитель</a:t>
            </a:r>
            <a:r>
              <a:rPr lang="en-US" dirty="0">
                <a:solidFill>
                  <a:srgbClr val="0F766E"/>
                </a:solidFill>
                <a:latin typeface="+mj-ea"/>
                <a:ea typeface="+mj-ea"/>
                <a:cs typeface="Aptos"/>
              </a:rPr>
              <a:t>: </a:t>
            </a:r>
            <a:r>
              <a:rPr lang="ru-RU" sz="1800" dirty="0">
                <a:solidFill>
                  <a:srgbClr val="0F766E"/>
                </a:solidFill>
                <a:latin typeface="+mj-ea"/>
                <a:ea typeface="+mj-ea"/>
                <a:cs typeface="Aptos"/>
              </a:rPr>
              <a:t>Солдатов А.А.</a:t>
            </a:r>
            <a:endParaRPr sz="1800" dirty="0">
              <a:solidFill>
                <a:srgbClr val="0F766E"/>
              </a:solidFill>
              <a:latin typeface="+mj-ea"/>
              <a:ea typeface="+mj-ea"/>
              <a:cs typeface="Apto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043D53-932E-6BD8-9466-7CDD9E12CDB8}"/>
              </a:ext>
            </a:extLst>
          </p:cNvPr>
          <p:cNvSpPr txBox="1"/>
          <p:nvPr/>
        </p:nvSpPr>
        <p:spPr>
          <a:xfrm>
            <a:off x="11667281" y="64933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78544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ackground">
            <a:extLst>
              <a:ext uri="{FF2B5EF4-FFF2-40B4-BE49-F238E27FC236}">
                <a16:creationId xmlns:a16="http://schemas.microsoft.com/office/drawing/2014/main" id="{78500560-4D85-4E28-82BE-E3B19FC7E02B}"/>
              </a:ext>
            </a:extLst>
          </p:cNvPr>
          <p:cNvSpPr>
            <a:spLocks noGrp="1"/>
          </p:cNvSpPr>
          <p:nvPr/>
        </p:nvSpPr>
        <p:spPr>
          <a:xfrm>
            <a:off x="0" y="19050"/>
            <a:ext cx="12192000" cy="6858000"/>
          </a:xfrm>
          <a:prstGeom prst="rect">
            <a:avLst/>
          </a:prstGeom>
          <a:solidFill>
            <a:srgbClr val="F7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RU" dirty="0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0ADE8AC8-351D-4E68-9408-0C6DA056B4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footer-rule">
            <a:extLst>
              <a:ext uri="{FF2B5EF4-FFF2-40B4-BE49-F238E27FC236}">
                <a16:creationId xmlns:a16="http://schemas.microsoft.com/office/drawing/2014/main" id="{12B356E8-76A5-4378-8905-9F6B04C59518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6858000" cy="9525"/>
          </a:xfrm>
          <a:prstGeom prst="rect">
            <a:avLst/>
          </a:prstGeom>
          <a:solidFill>
            <a:srgbClr val="D8D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EAA35B-5002-4617-8A05-6271D2C32BCD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bytecode verifier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0DEC31-2954-46CB-A665-D42FD2E5D3EE}"/>
              </a:ext>
            </a:extLst>
          </p:cNvPr>
          <p:cNvSpPr>
            <a:spLocks noGrp="1"/>
          </p:cNvSpPr>
          <p:nvPr/>
        </p:nvSpPr>
        <p:spPr>
          <a:xfrm>
            <a:off x="10382250" y="640080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5461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kicker-marker">
            <a:extLst>
              <a:ext uri="{FF2B5EF4-FFF2-40B4-BE49-F238E27FC236}">
                <a16:creationId xmlns:a16="http://schemas.microsoft.com/office/drawing/2014/main" id="{6C58B8BA-AD98-4569-801F-1665F3137CA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28575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>
              <a:ext uri="{FF2B5EF4-FFF2-40B4-BE49-F238E27FC236}">
                <a16:creationId xmlns:a16="http://schemas.microsoft.com/office/drawing/2014/main" id="{2DAA0226-9F48-4951-9CF3-1AA66AF131BD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ПРОБЛЕМА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714B7D-B0A1-4CCD-88D3-FAECD4DA597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8953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Переносимый байт-код требует независимой проверки до запуска.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5D3A87-9216-466C-895C-8D0251583C6E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4953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lang="ru-RU" sz="150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Ф</a:t>
            </a:r>
            <a:r>
              <a:rPr sz="150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ормально</a:t>
            </a:r>
            <a:r>
              <a:rPr sz="15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корректный</a:t>
            </a:r>
            <a:r>
              <a:rPr sz="15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файл</a:t>
            </a:r>
            <a:r>
              <a:rPr sz="15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может</a:t>
            </a:r>
            <a:r>
              <a:rPr sz="15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нарушать</a:t>
            </a:r>
            <a:r>
              <a:rPr sz="15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типовые</a:t>
            </a:r>
            <a:r>
              <a:rPr sz="15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и</a:t>
            </a:r>
            <a:r>
              <a:rPr sz="15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семантические</a:t>
            </a:r>
            <a:r>
              <a:rPr sz="15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инварианты</a:t>
            </a:r>
            <a:r>
              <a:rPr sz="15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платформы</a:t>
            </a:r>
            <a:r>
              <a:rPr sz="15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0" name="bullet-marker">
            <a:extLst>
              <a:ext uri="{FF2B5EF4-FFF2-40B4-BE49-F238E27FC236}">
                <a16:creationId xmlns:a16="http://schemas.microsoft.com/office/drawing/2014/main" id="{7F6862AA-3678-42FB-A5A4-E762F0DE18DD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5197F6-BBF0-4909-BF83-C9AD9F1C093D}"/>
              </a:ext>
            </a:extLst>
          </p:cNvPr>
          <p:cNvSpPr>
            <a:spLocks noGrp="1"/>
          </p:cNvSpPr>
          <p:nvPr/>
        </p:nvSpPr>
        <p:spPr>
          <a:xfrm>
            <a:off x="895350" y="2705100"/>
            <a:ext cx="47434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байт-код может быть сгенерирован ошибочным компилятором</a:t>
            </a:r>
          </a:p>
        </p:txBody>
      </p:sp>
      <p:sp>
        <p:nvSpPr>
          <p:cNvPr id="12" name="bullet-marker">
            <a:extLst>
              <a:ext uri="{FF2B5EF4-FFF2-40B4-BE49-F238E27FC236}">
                <a16:creationId xmlns:a16="http://schemas.microsoft.com/office/drawing/2014/main" id="{27703AC4-A8C6-4E27-A94C-F46D9E3DCAE9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0B776C-34EB-4099-B513-02339A6CD44F}"/>
              </a:ext>
            </a:extLst>
          </p:cNvPr>
          <p:cNvSpPr>
            <a:spLocks noGrp="1"/>
          </p:cNvSpPr>
          <p:nvPr/>
        </p:nvSpPr>
        <p:spPr>
          <a:xfrm>
            <a:off x="895350" y="3295650"/>
            <a:ext cx="47434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lang="ru-RU" sz="1575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о</a:t>
            </a:r>
            <a:r>
              <a:rPr lang="ru-RU" sz="1575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птимизации </a:t>
            </a:r>
            <a:r>
              <a:rPr sz="1575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могут</a:t>
            </a:r>
            <a:r>
              <a:rPr sz="1575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нарушить</a:t>
            </a:r>
            <a:r>
              <a:rPr sz="1575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ожидаемые</a:t>
            </a:r>
            <a:r>
              <a:rPr sz="1575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инварианты</a:t>
            </a:r>
            <a:endParaRPr sz="1575" b="0" dirty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bullet-marker">
            <a:extLst>
              <a:ext uri="{FF2B5EF4-FFF2-40B4-BE49-F238E27FC236}">
                <a16:creationId xmlns:a16="http://schemas.microsoft.com/office/drawing/2014/main" id="{13C30693-E801-4E34-AA56-84A1ABE8E298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2B01DA-CC0E-47B0-AB17-694573E85C52}"/>
              </a:ext>
            </a:extLst>
          </p:cNvPr>
          <p:cNvSpPr>
            <a:spLocks noGrp="1"/>
          </p:cNvSpPr>
          <p:nvPr/>
        </p:nvSpPr>
        <p:spPr>
          <a:xfrm>
            <a:off x="869223" y="3886200"/>
            <a:ext cx="47434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lang="ru-RU" sz="1575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передача по сети может привести к повреждению</a:t>
            </a:r>
          </a:p>
          <a:p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lang="ru-RU" sz="1575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исполняемого кода</a:t>
            </a:r>
            <a:endParaRPr sz="1575" b="0" dirty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diagram-node">
            <a:extLst>
              <a:ext uri="{FF2B5EF4-FFF2-40B4-BE49-F238E27FC236}">
                <a16:creationId xmlns:a16="http://schemas.microsoft.com/office/drawing/2014/main" id="{50596BA6-DDFE-4237-8D78-D57347E80D98}"/>
              </a:ext>
            </a:extLst>
          </p:cNvPr>
          <p:cNvSpPr>
            <a:spLocks noGrp="1"/>
          </p:cNvSpPr>
          <p:nvPr/>
        </p:nvSpPr>
        <p:spPr>
          <a:xfrm>
            <a:off x="6191250" y="1943100"/>
            <a:ext cx="166687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7" name="node-accent">
            <a:extLst>
              <a:ext uri="{FF2B5EF4-FFF2-40B4-BE49-F238E27FC236}">
                <a16:creationId xmlns:a16="http://schemas.microsoft.com/office/drawing/2014/main" id="{56EB5147-7C9D-4BBA-95ED-E2AD45DA5970}"/>
              </a:ext>
            </a:extLst>
          </p:cNvPr>
          <p:cNvSpPr>
            <a:spLocks noGrp="1"/>
          </p:cNvSpPr>
          <p:nvPr/>
        </p:nvSpPr>
        <p:spPr>
          <a:xfrm>
            <a:off x="6191250" y="1943100"/>
            <a:ext cx="57150" cy="8763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840F22-DA8D-4CF5-AAFC-E85D9537D461}"/>
              </a:ext>
            </a:extLst>
          </p:cNvPr>
          <p:cNvSpPr>
            <a:spLocks noGrp="1"/>
          </p:cNvSpPr>
          <p:nvPr/>
        </p:nvSpPr>
        <p:spPr>
          <a:xfrm>
            <a:off x="6362700" y="2076450"/>
            <a:ext cx="13239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Исходный код</a:t>
            </a:r>
          </a:p>
        </p:txBody>
      </p:sp>
      <p:sp>
        <p:nvSpPr>
          <p:cNvPr id="20" name="arrow-line">
            <a:extLst>
              <a:ext uri="{FF2B5EF4-FFF2-40B4-BE49-F238E27FC236}">
                <a16:creationId xmlns:a16="http://schemas.microsoft.com/office/drawing/2014/main" id="{C4E2AB6B-F1C8-4D25-ADBC-FE747FD8D3EF}"/>
              </a:ext>
            </a:extLst>
          </p:cNvPr>
          <p:cNvSpPr>
            <a:spLocks noGrp="1"/>
          </p:cNvSpPr>
          <p:nvPr/>
        </p:nvSpPr>
        <p:spPr>
          <a:xfrm>
            <a:off x="7829550" y="2362200"/>
            <a:ext cx="66675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9D7BCE-C64C-4696-ABB0-13D8381D9DB3}"/>
              </a:ext>
            </a:extLst>
          </p:cNvPr>
          <p:cNvSpPr>
            <a:spLocks noGrp="1"/>
          </p:cNvSpPr>
          <p:nvPr/>
        </p:nvSpPr>
        <p:spPr>
          <a:xfrm>
            <a:off x="8496300" y="22479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diagram-node">
            <a:extLst>
              <a:ext uri="{FF2B5EF4-FFF2-40B4-BE49-F238E27FC236}">
                <a16:creationId xmlns:a16="http://schemas.microsoft.com/office/drawing/2014/main" id="{0EFF8341-E7CC-41CD-B6BA-D8D4EDCBCD7C}"/>
              </a:ext>
            </a:extLst>
          </p:cNvPr>
          <p:cNvSpPr>
            <a:spLocks noGrp="1"/>
          </p:cNvSpPr>
          <p:nvPr/>
        </p:nvSpPr>
        <p:spPr>
          <a:xfrm>
            <a:off x="8667750" y="1943100"/>
            <a:ext cx="166687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D7CE14-669F-4311-8376-08F35EBD8DC4}"/>
              </a:ext>
            </a:extLst>
          </p:cNvPr>
          <p:cNvSpPr>
            <a:spLocks noGrp="1"/>
          </p:cNvSpPr>
          <p:nvPr/>
        </p:nvSpPr>
        <p:spPr>
          <a:xfrm>
            <a:off x="8839200" y="2076450"/>
            <a:ext cx="13239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Байт-код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553C4FA-2FA7-421B-9123-648933F05253}"/>
              </a:ext>
            </a:extLst>
          </p:cNvPr>
          <p:cNvSpPr>
            <a:spLocks noGrp="1"/>
          </p:cNvSpPr>
          <p:nvPr/>
        </p:nvSpPr>
        <p:spPr>
          <a:xfrm>
            <a:off x="8839200" y="2457450"/>
            <a:ext cx="13239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46170"/>
                </a:solidFill>
                <a:latin typeface="Aptos"/>
                <a:ea typeface="Aptos"/>
                <a:cs typeface="Aptos"/>
              </a:rPr>
              <a:t>промежуточное представление</a:t>
            </a:r>
          </a:p>
        </p:txBody>
      </p:sp>
      <p:sp>
        <p:nvSpPr>
          <p:cNvPr id="26" name="diagram-node">
            <a:extLst>
              <a:ext uri="{FF2B5EF4-FFF2-40B4-BE49-F238E27FC236}">
                <a16:creationId xmlns:a16="http://schemas.microsoft.com/office/drawing/2014/main" id="{AC0FF9C1-957D-45D0-8DAB-D72CD200499D}"/>
              </a:ext>
            </a:extLst>
          </p:cNvPr>
          <p:cNvSpPr>
            <a:spLocks noGrp="1"/>
          </p:cNvSpPr>
          <p:nvPr/>
        </p:nvSpPr>
        <p:spPr>
          <a:xfrm>
            <a:off x="7429500" y="3562350"/>
            <a:ext cx="2143125" cy="952500"/>
          </a:xfrm>
          <a:prstGeom prst="rect">
            <a:avLst/>
          </a:prstGeom>
          <a:solidFill>
            <a:srgbClr val="E7F3F1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7" name="node-accent">
            <a:extLst>
              <a:ext uri="{FF2B5EF4-FFF2-40B4-BE49-F238E27FC236}">
                <a16:creationId xmlns:a16="http://schemas.microsoft.com/office/drawing/2014/main" id="{0F2633CD-059D-4599-AE4E-C52EB82530FA}"/>
              </a:ext>
            </a:extLst>
          </p:cNvPr>
          <p:cNvSpPr>
            <a:spLocks noGrp="1"/>
          </p:cNvSpPr>
          <p:nvPr/>
        </p:nvSpPr>
        <p:spPr>
          <a:xfrm>
            <a:off x="7429500" y="3562350"/>
            <a:ext cx="57150" cy="9525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F9D9D9-9A51-4B24-9FEB-8208264DB293}"/>
              </a:ext>
            </a:extLst>
          </p:cNvPr>
          <p:cNvSpPr>
            <a:spLocks noGrp="1"/>
          </p:cNvSpPr>
          <p:nvPr/>
        </p:nvSpPr>
        <p:spPr>
          <a:xfrm>
            <a:off x="7600950" y="3695700"/>
            <a:ext cx="180022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Верификатор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C4FA66-30CA-4580-AF4B-96478CD46190}"/>
              </a:ext>
            </a:extLst>
          </p:cNvPr>
          <p:cNvSpPr>
            <a:spLocks noGrp="1"/>
          </p:cNvSpPr>
          <p:nvPr/>
        </p:nvSpPr>
        <p:spPr>
          <a:xfrm>
            <a:off x="7600950" y="4076700"/>
            <a:ext cx="18002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46170"/>
                </a:solidFill>
                <a:latin typeface="Aptos"/>
                <a:ea typeface="Aptos"/>
                <a:cs typeface="Aptos"/>
              </a:rPr>
              <a:t>статическая проверка метода</a:t>
            </a:r>
          </a:p>
        </p:txBody>
      </p:sp>
      <p:sp>
        <p:nvSpPr>
          <p:cNvPr id="30" name="arrow-line">
            <a:extLst>
              <a:ext uri="{FF2B5EF4-FFF2-40B4-BE49-F238E27FC236}">
                <a16:creationId xmlns:a16="http://schemas.microsoft.com/office/drawing/2014/main" id="{C9434075-5EDE-4174-A945-EE28FDCDBD01}"/>
              </a:ext>
            </a:extLst>
          </p:cNvPr>
          <p:cNvSpPr>
            <a:spLocks noGrp="1"/>
          </p:cNvSpPr>
          <p:nvPr/>
        </p:nvSpPr>
        <p:spPr>
          <a:xfrm>
            <a:off x="9544050" y="4000500"/>
            <a:ext cx="6096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4D57484-8C1F-430C-858F-AB63038C6F69}"/>
              </a:ext>
            </a:extLst>
          </p:cNvPr>
          <p:cNvSpPr>
            <a:spLocks noGrp="1"/>
          </p:cNvSpPr>
          <p:nvPr/>
        </p:nvSpPr>
        <p:spPr>
          <a:xfrm>
            <a:off x="10153650" y="3886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diagram-node">
            <a:extLst>
              <a:ext uri="{FF2B5EF4-FFF2-40B4-BE49-F238E27FC236}">
                <a16:creationId xmlns:a16="http://schemas.microsoft.com/office/drawing/2014/main" id="{E5BAD49C-D2C3-4A8C-B584-3DB697622229}"/>
              </a:ext>
            </a:extLst>
          </p:cNvPr>
          <p:cNvSpPr>
            <a:spLocks noGrp="1"/>
          </p:cNvSpPr>
          <p:nvPr/>
        </p:nvSpPr>
        <p:spPr>
          <a:xfrm>
            <a:off x="10334625" y="3467100"/>
            <a:ext cx="16383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33" name="node-accent">
            <a:extLst>
              <a:ext uri="{FF2B5EF4-FFF2-40B4-BE49-F238E27FC236}">
                <a16:creationId xmlns:a16="http://schemas.microsoft.com/office/drawing/2014/main" id="{BFFF711F-5096-4F92-A01D-26E618D3E432}"/>
              </a:ext>
            </a:extLst>
          </p:cNvPr>
          <p:cNvSpPr>
            <a:spLocks noGrp="1"/>
          </p:cNvSpPr>
          <p:nvPr/>
        </p:nvSpPr>
        <p:spPr>
          <a:xfrm flipH="1">
            <a:off x="10296117" y="3467099"/>
            <a:ext cx="45719" cy="1219199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9B9904-95A6-4516-AD49-52216D1B0EA1}"/>
              </a:ext>
            </a:extLst>
          </p:cNvPr>
          <p:cNvSpPr>
            <a:spLocks noGrp="1"/>
          </p:cNvSpPr>
          <p:nvPr/>
        </p:nvSpPr>
        <p:spPr>
          <a:xfrm>
            <a:off x="10515600" y="3695700"/>
            <a:ext cx="1295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VM / runtime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4876613-C646-4D32-849F-AEB0859523A1}"/>
              </a:ext>
            </a:extLst>
          </p:cNvPr>
          <p:cNvSpPr>
            <a:spLocks noGrp="1"/>
          </p:cNvSpPr>
          <p:nvPr/>
        </p:nvSpPr>
        <p:spPr>
          <a:xfrm>
            <a:off x="10515600" y="4076700"/>
            <a:ext cx="1295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46170"/>
                </a:solidFill>
                <a:latin typeface="Aptos"/>
                <a:ea typeface="Aptos"/>
                <a:cs typeface="Aptos"/>
              </a:rPr>
              <a:t>исполнение без повторения всех проверок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F49B3D-0073-4D5C-B5ED-0C4F954778C7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5429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Ценность</a:t>
            </a:r>
            <a:r>
              <a:rPr sz="165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: </a:t>
            </a:r>
            <a:r>
              <a:rPr lang="ru-RU" sz="165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минимизация </a:t>
            </a:r>
            <a:r>
              <a:rPr sz="1650" b="1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аварийных</a:t>
            </a:r>
            <a:r>
              <a:rPr sz="165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сценариев</a:t>
            </a:r>
            <a:r>
              <a:rPr lang="ru-RU" sz="165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на этапе исполнения</a:t>
            </a:r>
            <a:r>
              <a:rPr sz="165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6" name="node-accent">
            <a:extLst>
              <a:ext uri="{FF2B5EF4-FFF2-40B4-BE49-F238E27FC236}">
                <a16:creationId xmlns:a16="http://schemas.microsoft.com/office/drawing/2014/main" id="{255CF626-9A3F-4B12-2469-41F7C51C8225}"/>
              </a:ext>
            </a:extLst>
          </p:cNvPr>
          <p:cNvSpPr>
            <a:spLocks noGrp="1"/>
          </p:cNvSpPr>
          <p:nvPr/>
        </p:nvSpPr>
        <p:spPr>
          <a:xfrm>
            <a:off x="8667750" y="1933575"/>
            <a:ext cx="57150" cy="8763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526B08-37B6-CAB7-73E4-38E352772A51}"/>
              </a:ext>
            </a:extLst>
          </p:cNvPr>
          <p:cNvSpPr txBox="1"/>
          <p:nvPr/>
        </p:nvSpPr>
        <p:spPr>
          <a:xfrm>
            <a:off x="11667281" y="64933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17E151-6A15-497E-9593-A35B5A5CD5BF}"/>
              </a:ext>
            </a:extLst>
          </p:cNvPr>
          <p:cNvSpPr>
            <a:spLocks noGrp="1"/>
          </p:cNvSpPr>
          <p:nvPr/>
        </p:nvSpPr>
        <p:spPr>
          <a:xfrm>
            <a:off x="6362700" y="2457450"/>
            <a:ext cx="13239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lang="en-US" sz="1125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Java / </a:t>
            </a:r>
            <a:r>
              <a:rPr lang="en-US" sz="1125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C#</a:t>
            </a:r>
            <a:r>
              <a:rPr sz="1125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/ </a:t>
            </a:r>
            <a:r>
              <a:rPr sz="1125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другой</a:t>
            </a:r>
            <a:r>
              <a:rPr sz="1125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фронтенд</a:t>
            </a:r>
            <a:endParaRPr sz="1125" b="0" dirty="0">
              <a:solidFill>
                <a:srgbClr val="54617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79484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ackground">
            <a:extLst>
              <a:ext uri="{FF2B5EF4-FFF2-40B4-BE49-F238E27FC236}">
                <a16:creationId xmlns:a16="http://schemas.microsoft.com/office/drawing/2014/main" id="{183FBB14-18C7-4C09-8AFF-EA2B8B2BEA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RU" dirty="0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E68CAEC7-2A5E-4BD2-9D37-36AF109EF4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footer-rule">
            <a:extLst>
              <a:ext uri="{FF2B5EF4-FFF2-40B4-BE49-F238E27FC236}">
                <a16:creationId xmlns:a16="http://schemas.microsoft.com/office/drawing/2014/main" id="{E905573A-1CAB-4E96-A1C8-E62D9964D6E3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6858000" cy="9525"/>
          </a:xfrm>
          <a:prstGeom prst="rect">
            <a:avLst/>
          </a:prstGeom>
          <a:solidFill>
            <a:srgbClr val="D8D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9181DA-1A06-450E-8278-09E68EAA21CE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bytecode verifier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62ADED-FFA2-4AFD-8FB8-56F74670B7D9}"/>
              </a:ext>
            </a:extLst>
          </p:cNvPr>
          <p:cNvSpPr>
            <a:spLocks noGrp="1"/>
          </p:cNvSpPr>
          <p:nvPr/>
        </p:nvSpPr>
        <p:spPr>
          <a:xfrm>
            <a:off x="10382250" y="640080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5461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kicker-marker">
            <a:extLst>
              <a:ext uri="{FF2B5EF4-FFF2-40B4-BE49-F238E27FC236}">
                <a16:creationId xmlns:a16="http://schemas.microsoft.com/office/drawing/2014/main" id="{0EBA8F1D-72C7-40C3-B4B5-5900C000A0FF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28575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>
              <a:ext uri="{FF2B5EF4-FFF2-40B4-BE49-F238E27FC236}">
                <a16:creationId xmlns:a16="http://schemas.microsoft.com/office/drawing/2014/main" id="{E93472DC-7FF4-4F2B-A939-61253939B6D3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ЦЕЛЬ И ЗАДАЧИ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7E47B-B810-43B4-A5E9-041187F11C5D}"/>
              </a:ext>
            </a:extLst>
          </p:cNvPr>
          <p:cNvSpPr>
            <a:spLocks noGrp="1"/>
          </p:cNvSpPr>
          <p:nvPr/>
        </p:nvSpPr>
        <p:spPr>
          <a:xfrm>
            <a:off x="685800" y="1124766"/>
            <a:ext cx="8953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2000" b="1" dirty="0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План работы</a:t>
            </a:r>
            <a:r>
              <a:rPr lang="en-US" sz="2000" b="1" dirty="0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:</a:t>
            </a:r>
            <a:endParaRPr sz="2000" b="1" dirty="0">
              <a:solidFill>
                <a:srgbClr val="0F766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goal-panel">
            <a:extLst>
              <a:ext uri="{FF2B5EF4-FFF2-40B4-BE49-F238E27FC236}">
                <a16:creationId xmlns:a16="http://schemas.microsoft.com/office/drawing/2014/main" id="{8BF0D37E-8228-485D-8763-EC788AA15251}"/>
              </a:ext>
            </a:extLst>
          </p:cNvPr>
          <p:cNvSpPr>
            <a:spLocks noGrp="1"/>
          </p:cNvSpPr>
          <p:nvPr/>
        </p:nvSpPr>
        <p:spPr>
          <a:xfrm>
            <a:off x="7924801" y="1543866"/>
            <a:ext cx="3143250" cy="2762250"/>
          </a:xfrm>
          <a:prstGeom prst="rect">
            <a:avLst/>
          </a:prstGeom>
          <a:solidFill>
            <a:srgbClr val="E7F3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E21679-2BAD-4806-A8E9-6248D9728B86}"/>
              </a:ext>
            </a:extLst>
          </p:cNvPr>
          <p:cNvSpPr>
            <a:spLocks noGrp="1"/>
          </p:cNvSpPr>
          <p:nvPr/>
        </p:nvSpPr>
        <p:spPr>
          <a:xfrm>
            <a:off x="8172451" y="1656534"/>
            <a:ext cx="2476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 dirty="0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Цель </a:t>
            </a:r>
            <a:r>
              <a:rPr sz="2000" b="1" dirty="0" err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работы</a:t>
            </a:r>
            <a:r>
              <a:rPr lang="en-US" sz="2000" b="1" dirty="0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:</a:t>
            </a:r>
            <a:endParaRPr sz="2000" b="1" dirty="0">
              <a:solidFill>
                <a:srgbClr val="0F766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6AC168-F0AC-410D-8CB7-EEBE6EA83CDF}"/>
              </a:ext>
            </a:extLst>
          </p:cNvPr>
          <p:cNvSpPr>
            <a:spLocks noGrp="1"/>
          </p:cNvSpPr>
          <p:nvPr/>
        </p:nvSpPr>
        <p:spPr>
          <a:xfrm>
            <a:off x="8192420" y="2168053"/>
            <a:ext cx="23812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lang="ru-RU" sz="1575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Расширить</a:t>
            </a:r>
            <a:r>
              <a:rPr sz="1575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75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типов</a:t>
            </a:r>
            <a:r>
              <a:rPr lang="ru-RU" sz="1575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ую</a:t>
            </a:r>
            <a:r>
              <a:rPr sz="1575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75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систем</a:t>
            </a:r>
            <a:r>
              <a:rPr lang="ru-RU" sz="1575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у</a:t>
            </a:r>
            <a:r>
              <a:rPr sz="1575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75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верификатора</a:t>
            </a:r>
            <a:r>
              <a:rPr sz="1575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75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и</a:t>
            </a:r>
            <a:r>
              <a:rPr sz="1575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75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реализ</a:t>
            </a:r>
            <a:r>
              <a:rPr lang="ru-RU" sz="1575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овать</a:t>
            </a:r>
            <a:r>
              <a:rPr sz="1575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75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провер</a:t>
            </a:r>
            <a:r>
              <a:rPr lang="ru-RU" sz="1575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ки</a:t>
            </a:r>
            <a:r>
              <a:rPr sz="1575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75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инструкций</a:t>
            </a:r>
            <a:r>
              <a:rPr sz="1575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, </a:t>
            </a:r>
            <a:r>
              <a:rPr sz="1575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которые</a:t>
            </a:r>
            <a:r>
              <a:rPr sz="1575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75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раньше</a:t>
            </a:r>
            <a:r>
              <a:rPr sz="1575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75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не</a:t>
            </a:r>
            <a:r>
              <a:rPr sz="1575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75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анализировались</a:t>
            </a:r>
            <a:r>
              <a:rPr sz="1575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75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содержательно</a:t>
            </a:r>
            <a:r>
              <a:rPr sz="1575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2" name="diagram-node">
            <a:extLst>
              <a:ext uri="{FF2B5EF4-FFF2-40B4-BE49-F238E27FC236}">
                <a16:creationId xmlns:a16="http://schemas.microsoft.com/office/drawing/2014/main" id="{DC7E424D-2397-46AE-B9BE-793892D71ABA}"/>
              </a:ext>
            </a:extLst>
          </p:cNvPr>
          <p:cNvSpPr>
            <a:spLocks noGrp="1"/>
          </p:cNvSpPr>
          <p:nvPr/>
        </p:nvSpPr>
        <p:spPr>
          <a:xfrm>
            <a:off x="685800" y="1572441"/>
            <a:ext cx="27813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3" name="node-accent">
            <a:extLst>
              <a:ext uri="{FF2B5EF4-FFF2-40B4-BE49-F238E27FC236}">
                <a16:creationId xmlns:a16="http://schemas.microsoft.com/office/drawing/2014/main" id="{54E10A79-23E2-4E76-9945-7635A2E00979}"/>
              </a:ext>
            </a:extLst>
          </p:cNvPr>
          <p:cNvSpPr>
            <a:spLocks noGrp="1"/>
          </p:cNvSpPr>
          <p:nvPr/>
        </p:nvSpPr>
        <p:spPr>
          <a:xfrm>
            <a:off x="685800" y="1572441"/>
            <a:ext cx="57150" cy="762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8994D2-D99E-4BC5-AC9F-4EAD2839A1F6}"/>
              </a:ext>
            </a:extLst>
          </p:cNvPr>
          <p:cNvSpPr>
            <a:spLocks noGrp="1"/>
          </p:cNvSpPr>
          <p:nvPr/>
        </p:nvSpPr>
        <p:spPr>
          <a:xfrm>
            <a:off x="857250" y="1705791"/>
            <a:ext cx="2438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FDA6B0-8B9E-4305-A9C3-85E0942ABB39}"/>
              </a:ext>
            </a:extLst>
          </p:cNvPr>
          <p:cNvSpPr>
            <a:spLocks noGrp="1"/>
          </p:cNvSpPr>
          <p:nvPr/>
        </p:nvSpPr>
        <p:spPr>
          <a:xfrm>
            <a:off x="857250" y="2086791"/>
            <a:ext cx="24384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46170"/>
                </a:solidFill>
                <a:latin typeface="Aptos"/>
                <a:ea typeface="Aptos"/>
                <a:cs typeface="Aptos"/>
              </a:rPr>
              <a:t>изучить существующие решения</a:t>
            </a:r>
          </a:p>
        </p:txBody>
      </p:sp>
      <p:sp>
        <p:nvSpPr>
          <p:cNvPr id="16" name="diagram-node">
            <a:extLst>
              <a:ext uri="{FF2B5EF4-FFF2-40B4-BE49-F238E27FC236}">
                <a16:creationId xmlns:a16="http://schemas.microsoft.com/office/drawing/2014/main" id="{0C1B39F3-0861-4B23-93CB-317757FDD6C1}"/>
              </a:ext>
            </a:extLst>
          </p:cNvPr>
          <p:cNvSpPr>
            <a:spLocks noGrp="1"/>
          </p:cNvSpPr>
          <p:nvPr/>
        </p:nvSpPr>
        <p:spPr>
          <a:xfrm>
            <a:off x="3924300" y="1572441"/>
            <a:ext cx="27813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2CEDB2-41F3-436E-B59C-DD29320D5ABE}"/>
              </a:ext>
            </a:extLst>
          </p:cNvPr>
          <p:cNvSpPr>
            <a:spLocks noGrp="1"/>
          </p:cNvSpPr>
          <p:nvPr/>
        </p:nvSpPr>
        <p:spPr>
          <a:xfrm>
            <a:off x="4095750" y="1705791"/>
            <a:ext cx="2438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28FA95-A950-4B7A-B617-A3AC14A6CE4D}"/>
              </a:ext>
            </a:extLst>
          </p:cNvPr>
          <p:cNvSpPr>
            <a:spLocks noGrp="1"/>
          </p:cNvSpPr>
          <p:nvPr/>
        </p:nvSpPr>
        <p:spPr>
          <a:xfrm>
            <a:off x="4095750" y="2086791"/>
            <a:ext cx="24384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46170"/>
                </a:solidFill>
                <a:latin typeface="Aptos"/>
                <a:ea typeface="Aptos"/>
                <a:cs typeface="Aptos"/>
              </a:rPr>
              <a:t>сравнить типы VM и верификатора</a:t>
            </a:r>
          </a:p>
        </p:txBody>
      </p:sp>
      <p:sp>
        <p:nvSpPr>
          <p:cNvPr id="20" name="diagram-node">
            <a:extLst>
              <a:ext uri="{FF2B5EF4-FFF2-40B4-BE49-F238E27FC236}">
                <a16:creationId xmlns:a16="http://schemas.microsoft.com/office/drawing/2014/main" id="{5D9FF348-FC6F-47E0-85DD-3D6DAD5AE23A}"/>
              </a:ext>
            </a:extLst>
          </p:cNvPr>
          <p:cNvSpPr>
            <a:spLocks noGrp="1"/>
          </p:cNvSpPr>
          <p:nvPr/>
        </p:nvSpPr>
        <p:spPr>
          <a:xfrm>
            <a:off x="685800" y="2448741"/>
            <a:ext cx="27813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1" name="node-accent">
            <a:extLst>
              <a:ext uri="{FF2B5EF4-FFF2-40B4-BE49-F238E27FC236}">
                <a16:creationId xmlns:a16="http://schemas.microsoft.com/office/drawing/2014/main" id="{D9C8FF5F-B962-4751-8AC6-F865167C8D0B}"/>
              </a:ext>
            </a:extLst>
          </p:cNvPr>
          <p:cNvSpPr>
            <a:spLocks noGrp="1"/>
          </p:cNvSpPr>
          <p:nvPr/>
        </p:nvSpPr>
        <p:spPr>
          <a:xfrm>
            <a:off x="685800" y="2448741"/>
            <a:ext cx="57150" cy="762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168476-9B68-4312-B374-D64405611389}"/>
              </a:ext>
            </a:extLst>
          </p:cNvPr>
          <p:cNvSpPr>
            <a:spLocks noGrp="1"/>
          </p:cNvSpPr>
          <p:nvPr/>
        </p:nvSpPr>
        <p:spPr>
          <a:xfrm>
            <a:off x="857250" y="2582091"/>
            <a:ext cx="2438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FFB988-F6C0-467C-85DB-C04EC1B609C4}"/>
              </a:ext>
            </a:extLst>
          </p:cNvPr>
          <p:cNvSpPr>
            <a:spLocks noGrp="1"/>
          </p:cNvSpPr>
          <p:nvPr/>
        </p:nvSpPr>
        <p:spPr>
          <a:xfrm>
            <a:off x="857250" y="2963091"/>
            <a:ext cx="24384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46170"/>
                </a:solidFill>
                <a:latin typeface="Aptos"/>
                <a:ea typeface="Aptos"/>
                <a:cs typeface="Aptos"/>
              </a:rPr>
              <a:t>поддержать runtime union</a:t>
            </a:r>
          </a:p>
        </p:txBody>
      </p:sp>
      <p:sp>
        <p:nvSpPr>
          <p:cNvPr id="24" name="diagram-node">
            <a:extLst>
              <a:ext uri="{FF2B5EF4-FFF2-40B4-BE49-F238E27FC236}">
                <a16:creationId xmlns:a16="http://schemas.microsoft.com/office/drawing/2014/main" id="{FB719D58-9324-4729-A458-9F3D1D7C3346}"/>
              </a:ext>
            </a:extLst>
          </p:cNvPr>
          <p:cNvSpPr>
            <a:spLocks noGrp="1"/>
          </p:cNvSpPr>
          <p:nvPr/>
        </p:nvSpPr>
        <p:spPr>
          <a:xfrm>
            <a:off x="3924300" y="2448741"/>
            <a:ext cx="27813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0A9AEB-B67C-4049-B779-DEC12408F8BD}"/>
              </a:ext>
            </a:extLst>
          </p:cNvPr>
          <p:cNvSpPr>
            <a:spLocks noGrp="1"/>
          </p:cNvSpPr>
          <p:nvPr/>
        </p:nvSpPr>
        <p:spPr>
          <a:xfrm>
            <a:off x="4095750" y="2582091"/>
            <a:ext cx="2438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1FBDD9-F3D7-453B-9B41-C6921260DDB6}"/>
              </a:ext>
            </a:extLst>
          </p:cNvPr>
          <p:cNvSpPr>
            <a:spLocks noGrp="1"/>
          </p:cNvSpPr>
          <p:nvPr/>
        </p:nvSpPr>
        <p:spPr>
          <a:xfrm>
            <a:off x="4095750" y="2963091"/>
            <a:ext cx="24384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125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реализовать</a:t>
            </a:r>
            <a:r>
              <a:rPr sz="1125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125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Plugin-</a:t>
            </a:r>
            <a:r>
              <a:rPr sz="1125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и</a:t>
            </a:r>
            <a:r>
              <a:rPr sz="1125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any-</a:t>
            </a:r>
            <a:r>
              <a:rPr sz="1125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обработчики</a:t>
            </a:r>
            <a:endParaRPr sz="1125" b="0" dirty="0">
              <a:solidFill>
                <a:srgbClr val="5461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diagram-node">
            <a:extLst>
              <a:ext uri="{FF2B5EF4-FFF2-40B4-BE49-F238E27FC236}">
                <a16:creationId xmlns:a16="http://schemas.microsoft.com/office/drawing/2014/main" id="{440DCE88-4FD4-4BE9-976F-3AFE55A99919}"/>
              </a:ext>
            </a:extLst>
          </p:cNvPr>
          <p:cNvSpPr>
            <a:spLocks noGrp="1"/>
          </p:cNvSpPr>
          <p:nvPr/>
        </p:nvSpPr>
        <p:spPr>
          <a:xfrm>
            <a:off x="685800" y="3325041"/>
            <a:ext cx="27813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9" name="node-accent">
            <a:extLst>
              <a:ext uri="{FF2B5EF4-FFF2-40B4-BE49-F238E27FC236}">
                <a16:creationId xmlns:a16="http://schemas.microsoft.com/office/drawing/2014/main" id="{9C0A0AA5-6956-4BE0-AA35-98775F374DB4}"/>
              </a:ext>
            </a:extLst>
          </p:cNvPr>
          <p:cNvSpPr>
            <a:spLocks noGrp="1"/>
          </p:cNvSpPr>
          <p:nvPr/>
        </p:nvSpPr>
        <p:spPr>
          <a:xfrm>
            <a:off x="685800" y="3325041"/>
            <a:ext cx="57150" cy="762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8F146C-F3D3-4C11-B2E1-D37385B84693}"/>
              </a:ext>
            </a:extLst>
          </p:cNvPr>
          <p:cNvSpPr>
            <a:spLocks noGrp="1"/>
          </p:cNvSpPr>
          <p:nvPr/>
        </p:nvSpPr>
        <p:spPr>
          <a:xfrm>
            <a:off x="857250" y="3458391"/>
            <a:ext cx="2438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AD0F2F-F615-4A73-8C2D-56E49146A96C}"/>
              </a:ext>
            </a:extLst>
          </p:cNvPr>
          <p:cNvSpPr>
            <a:spLocks noGrp="1"/>
          </p:cNvSpPr>
          <p:nvPr/>
        </p:nvSpPr>
        <p:spPr>
          <a:xfrm>
            <a:off x="857250" y="3839391"/>
            <a:ext cx="24384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lang="ru-RU" sz="1125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по</a:t>
            </a:r>
            <a:r>
              <a:rPr sz="1125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крыть</a:t>
            </a:r>
            <a:r>
              <a:rPr sz="1125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изменения</a:t>
            </a:r>
            <a:r>
              <a:rPr sz="1125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тестами</a:t>
            </a:r>
            <a:endParaRPr sz="1125" b="0" dirty="0">
              <a:solidFill>
                <a:srgbClr val="5461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114E054-6090-4072-90C8-2AA286D23807}"/>
              </a:ext>
            </a:extLst>
          </p:cNvPr>
          <p:cNvSpPr>
            <a:spLocks noGrp="1"/>
          </p:cNvSpPr>
          <p:nvPr/>
        </p:nvSpPr>
        <p:spPr>
          <a:xfrm>
            <a:off x="685800" y="4592312"/>
            <a:ext cx="6019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000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Критерий</a:t>
            </a:r>
            <a:r>
              <a:rPr sz="2000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 </a:t>
            </a:r>
            <a:r>
              <a:rPr lang="ru-RU" sz="2000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выполнения</a:t>
            </a:r>
            <a:r>
              <a:rPr sz="2000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: </a:t>
            </a:r>
            <a:endParaRPr lang="ru-RU" sz="2000" dirty="0">
              <a:solidFill>
                <a:srgbClr val="0F766E"/>
              </a:solidFill>
              <a:latin typeface="Aptos"/>
              <a:ea typeface="Aptos"/>
              <a:cs typeface="Aptos"/>
            </a:endParaRPr>
          </a:p>
          <a:p>
            <a:pPr algn="l"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lang="ru-RU" sz="1575" dirty="0">
                <a:solidFill>
                  <a:srgbClr val="17202A"/>
                </a:solidFill>
                <a:latin typeface="Aptos"/>
                <a:ea typeface="Aptos"/>
                <a:cs typeface="+mj-cs"/>
              </a:rPr>
              <a:t>Верификатор корректно обрабатывает ранее неверифицируемые инструкции и проверяет их на соответствие семантике.</a:t>
            </a:r>
          </a:p>
        </p:txBody>
      </p:sp>
      <p:sp>
        <p:nvSpPr>
          <p:cNvPr id="34" name="node-accent">
            <a:extLst>
              <a:ext uri="{FF2B5EF4-FFF2-40B4-BE49-F238E27FC236}">
                <a16:creationId xmlns:a16="http://schemas.microsoft.com/office/drawing/2014/main" id="{3741C54D-F8C9-B2CD-47C5-E00FFCB31B2C}"/>
              </a:ext>
            </a:extLst>
          </p:cNvPr>
          <p:cNvSpPr>
            <a:spLocks noGrp="1"/>
          </p:cNvSpPr>
          <p:nvPr/>
        </p:nvSpPr>
        <p:spPr>
          <a:xfrm>
            <a:off x="3924300" y="1580334"/>
            <a:ext cx="57150" cy="762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node-accent">
            <a:extLst>
              <a:ext uri="{FF2B5EF4-FFF2-40B4-BE49-F238E27FC236}">
                <a16:creationId xmlns:a16="http://schemas.microsoft.com/office/drawing/2014/main" id="{D0E6C50E-E2DD-091A-4F3E-3F00AD743F77}"/>
              </a:ext>
            </a:extLst>
          </p:cNvPr>
          <p:cNvSpPr>
            <a:spLocks noGrp="1"/>
          </p:cNvSpPr>
          <p:nvPr/>
        </p:nvSpPr>
        <p:spPr>
          <a:xfrm>
            <a:off x="3925808" y="2448741"/>
            <a:ext cx="57150" cy="762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BF5E17-DEB2-A0FD-ECD6-DB6C9FBAF9A5}"/>
              </a:ext>
            </a:extLst>
          </p:cNvPr>
          <p:cNvSpPr txBox="1"/>
          <p:nvPr/>
        </p:nvSpPr>
        <p:spPr>
          <a:xfrm>
            <a:off x="11667281" y="64933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34110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iagram-node">
            <a:extLst>
              <a:ext uri="{FF2B5EF4-FFF2-40B4-BE49-F238E27FC236}">
                <a16:creationId xmlns:a16="http://schemas.microsoft.com/office/drawing/2014/main" id="{88DCC362-D591-4715-44D5-522CF9B722A7}"/>
              </a:ext>
            </a:extLst>
          </p:cNvPr>
          <p:cNvSpPr>
            <a:spLocks noGrp="1"/>
          </p:cNvSpPr>
          <p:nvPr/>
        </p:nvSpPr>
        <p:spPr>
          <a:xfrm>
            <a:off x="1234943" y="2639581"/>
            <a:ext cx="13525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45" name="background">
            <a:extLst>
              <a:ext uri="{FF2B5EF4-FFF2-40B4-BE49-F238E27FC236}">
                <a16:creationId xmlns:a16="http://schemas.microsoft.com/office/drawing/2014/main" id="{CBEC6807-D7CA-45DA-9F2B-59DFD69F5D38}"/>
              </a:ext>
            </a:extLst>
          </p:cNvPr>
          <p:cNvSpPr>
            <a:spLocks noGrp="1"/>
          </p:cNvSpPr>
          <p:nvPr/>
        </p:nvSpPr>
        <p:spPr>
          <a:xfrm>
            <a:off x="-1" y="48986"/>
            <a:ext cx="12192000" cy="6858000"/>
          </a:xfrm>
          <a:prstGeom prst="rect">
            <a:avLst/>
          </a:prstGeom>
          <a:solidFill>
            <a:srgbClr val="F7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01D14637-0714-4B26-A826-4668AD24F4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footer-rule">
            <a:extLst>
              <a:ext uri="{FF2B5EF4-FFF2-40B4-BE49-F238E27FC236}">
                <a16:creationId xmlns:a16="http://schemas.microsoft.com/office/drawing/2014/main" id="{5F2F2681-FC0C-4B31-B3AD-6ACD154A4195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6858000" cy="9525"/>
          </a:xfrm>
          <a:prstGeom prst="rect">
            <a:avLst/>
          </a:prstGeom>
          <a:solidFill>
            <a:srgbClr val="D8D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74AABA-5A68-4404-BCFD-8EEDACEC179D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bytecode verifier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143643-BC17-4D95-8843-8C02F9C622D0}"/>
              </a:ext>
            </a:extLst>
          </p:cNvPr>
          <p:cNvSpPr>
            <a:spLocks noGrp="1"/>
          </p:cNvSpPr>
          <p:nvPr/>
        </p:nvSpPr>
        <p:spPr>
          <a:xfrm>
            <a:off x="10382250" y="640080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5461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kicker-marker">
            <a:extLst>
              <a:ext uri="{FF2B5EF4-FFF2-40B4-BE49-F238E27FC236}">
                <a16:creationId xmlns:a16="http://schemas.microsoft.com/office/drawing/2014/main" id="{D7302C2F-E787-4AC4-AAF8-B21ABCCFF920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28575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>
              <a:ext uri="{FF2B5EF4-FFF2-40B4-BE49-F238E27FC236}">
                <a16:creationId xmlns:a16="http://schemas.microsoft.com/office/drawing/2014/main" id="{DD8BF200-2A14-42F2-876A-060E7F14225A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МЕХАНИКА ПРОВЕРКИ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F298A4-BB65-493C-9DE6-DC009A90CB6A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8953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2800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Устройство рабочего процесса верификатора</a:t>
            </a:r>
            <a:r>
              <a:rPr sz="2800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72" name="diagram-node">
            <a:extLst>
              <a:ext uri="{FF2B5EF4-FFF2-40B4-BE49-F238E27FC236}">
                <a16:creationId xmlns:a16="http://schemas.microsoft.com/office/drawing/2014/main" id="{0B3F42B3-4FE9-B44A-10E2-37B91FAAE920}"/>
              </a:ext>
            </a:extLst>
          </p:cNvPr>
          <p:cNvSpPr>
            <a:spLocks noGrp="1"/>
          </p:cNvSpPr>
          <p:nvPr/>
        </p:nvSpPr>
        <p:spPr>
          <a:xfrm>
            <a:off x="1242660" y="2652077"/>
            <a:ext cx="1344833" cy="1033115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0" name="node-accent">
            <a:extLst>
              <a:ext uri="{FF2B5EF4-FFF2-40B4-BE49-F238E27FC236}">
                <a16:creationId xmlns:a16="http://schemas.microsoft.com/office/drawing/2014/main" id="{7A2A1B68-1B49-48BD-B8B0-619B77989A47}"/>
              </a:ext>
            </a:extLst>
          </p:cNvPr>
          <p:cNvSpPr>
            <a:spLocks noGrp="1"/>
          </p:cNvSpPr>
          <p:nvPr/>
        </p:nvSpPr>
        <p:spPr>
          <a:xfrm>
            <a:off x="1234943" y="2639581"/>
            <a:ext cx="57150" cy="10477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38E840-D6E0-42B0-82E9-C2283F9A5D4E}"/>
              </a:ext>
            </a:extLst>
          </p:cNvPr>
          <p:cNvSpPr>
            <a:spLocks noGrp="1"/>
          </p:cNvSpPr>
          <p:nvPr/>
        </p:nvSpPr>
        <p:spPr>
          <a:xfrm>
            <a:off x="1406393" y="2772931"/>
            <a:ext cx="1181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Метод</a:t>
            </a:r>
            <a:endParaRPr sz="1425" b="1" dirty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378CC7-9BDE-479E-A36C-0FE1A5810F1F}"/>
              </a:ext>
            </a:extLst>
          </p:cNvPr>
          <p:cNvSpPr>
            <a:spLocks noGrp="1"/>
          </p:cNvSpPr>
          <p:nvPr/>
        </p:nvSpPr>
        <p:spPr>
          <a:xfrm>
            <a:off x="1406393" y="3153931"/>
            <a:ext cx="1181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46170"/>
                </a:solidFill>
                <a:latin typeface="Aptos"/>
                <a:ea typeface="Aptos"/>
                <a:cs typeface="Aptos"/>
              </a:rPr>
              <a:t>единица верификации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94A981-DB15-4F5A-A4F7-38CC85E8C9E1}"/>
              </a:ext>
            </a:extLst>
          </p:cNvPr>
          <p:cNvSpPr>
            <a:spLocks noGrp="1"/>
          </p:cNvSpPr>
          <p:nvPr/>
        </p:nvSpPr>
        <p:spPr>
          <a:xfrm>
            <a:off x="3004457" y="3039631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diagram-node">
            <a:extLst>
              <a:ext uri="{FF2B5EF4-FFF2-40B4-BE49-F238E27FC236}">
                <a16:creationId xmlns:a16="http://schemas.microsoft.com/office/drawing/2014/main" id="{EB5E151B-74AA-406E-9A3D-2E5EE9C5C43F}"/>
              </a:ext>
            </a:extLst>
          </p:cNvPr>
          <p:cNvSpPr>
            <a:spLocks noGrp="1"/>
          </p:cNvSpPr>
          <p:nvPr/>
        </p:nvSpPr>
        <p:spPr>
          <a:xfrm>
            <a:off x="3141188" y="2639581"/>
            <a:ext cx="15240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6" name="node-accent">
            <a:extLst>
              <a:ext uri="{FF2B5EF4-FFF2-40B4-BE49-F238E27FC236}">
                <a16:creationId xmlns:a16="http://schemas.microsoft.com/office/drawing/2014/main" id="{A6B7B347-7169-48C0-BA1D-16E65FC20ECA}"/>
              </a:ext>
            </a:extLst>
          </p:cNvPr>
          <p:cNvSpPr>
            <a:spLocks noGrp="1"/>
          </p:cNvSpPr>
          <p:nvPr/>
        </p:nvSpPr>
        <p:spPr>
          <a:xfrm>
            <a:off x="3141188" y="2639581"/>
            <a:ext cx="57150" cy="10477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F07098-6A03-4044-AC73-D25F163BF80F}"/>
              </a:ext>
            </a:extLst>
          </p:cNvPr>
          <p:cNvSpPr>
            <a:spLocks noGrp="1"/>
          </p:cNvSpPr>
          <p:nvPr/>
        </p:nvSpPr>
        <p:spPr>
          <a:xfrm>
            <a:off x="3312638" y="2772931"/>
            <a:ext cx="1181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CFG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50C2AE-9096-42F2-A675-3A5FF041C208}"/>
              </a:ext>
            </a:extLst>
          </p:cNvPr>
          <p:cNvSpPr>
            <a:spLocks noGrp="1"/>
          </p:cNvSpPr>
          <p:nvPr/>
        </p:nvSpPr>
        <p:spPr>
          <a:xfrm>
            <a:off x="3312638" y="3153931"/>
            <a:ext cx="1181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46170"/>
                </a:solidFill>
                <a:latin typeface="Aptos"/>
                <a:ea typeface="Aptos"/>
                <a:cs typeface="Aptos"/>
              </a:rPr>
              <a:t>переходы и блоки</a:t>
            </a:r>
          </a:p>
        </p:txBody>
      </p:sp>
      <p:sp>
        <p:nvSpPr>
          <p:cNvPr id="19" name="arrow-line">
            <a:extLst>
              <a:ext uri="{FF2B5EF4-FFF2-40B4-BE49-F238E27FC236}">
                <a16:creationId xmlns:a16="http://schemas.microsoft.com/office/drawing/2014/main" id="{A9E2BE57-2EA4-418F-BD06-CABEE161AECB}"/>
              </a:ext>
            </a:extLst>
          </p:cNvPr>
          <p:cNvSpPr>
            <a:spLocks noGrp="1"/>
          </p:cNvSpPr>
          <p:nvPr/>
        </p:nvSpPr>
        <p:spPr>
          <a:xfrm>
            <a:off x="4665188" y="3140170"/>
            <a:ext cx="441415" cy="45719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A713D2-7B18-4193-9B26-418D37C97A29}"/>
              </a:ext>
            </a:extLst>
          </p:cNvPr>
          <p:cNvSpPr>
            <a:spLocks noGrp="1"/>
          </p:cNvSpPr>
          <p:nvPr/>
        </p:nvSpPr>
        <p:spPr>
          <a:xfrm>
            <a:off x="5106604" y="3052539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diagram-node">
            <a:extLst>
              <a:ext uri="{FF2B5EF4-FFF2-40B4-BE49-F238E27FC236}">
                <a16:creationId xmlns:a16="http://schemas.microsoft.com/office/drawing/2014/main" id="{122AB36B-11FA-4C5E-BA72-9775CE869769}"/>
              </a:ext>
            </a:extLst>
          </p:cNvPr>
          <p:cNvSpPr>
            <a:spLocks noGrp="1"/>
          </p:cNvSpPr>
          <p:nvPr/>
        </p:nvSpPr>
        <p:spPr>
          <a:xfrm>
            <a:off x="5278054" y="2652489"/>
            <a:ext cx="1524000" cy="1047750"/>
          </a:xfrm>
          <a:prstGeom prst="rect">
            <a:avLst/>
          </a:prstGeom>
          <a:solidFill>
            <a:srgbClr val="E7F3F1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2" name="node-accent">
            <a:extLst>
              <a:ext uri="{FF2B5EF4-FFF2-40B4-BE49-F238E27FC236}">
                <a16:creationId xmlns:a16="http://schemas.microsoft.com/office/drawing/2014/main" id="{2F14A679-26FB-4862-89A9-F378B6D4982D}"/>
              </a:ext>
            </a:extLst>
          </p:cNvPr>
          <p:cNvSpPr>
            <a:spLocks noGrp="1"/>
          </p:cNvSpPr>
          <p:nvPr/>
        </p:nvSpPr>
        <p:spPr>
          <a:xfrm>
            <a:off x="5278054" y="2652489"/>
            <a:ext cx="57150" cy="10477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5A62BE-E117-4D05-A089-B2A3F1D43F20}"/>
              </a:ext>
            </a:extLst>
          </p:cNvPr>
          <p:cNvSpPr>
            <a:spLocks noGrp="1"/>
          </p:cNvSpPr>
          <p:nvPr/>
        </p:nvSpPr>
        <p:spPr>
          <a:xfrm>
            <a:off x="5449504" y="2785839"/>
            <a:ext cx="1181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Контекст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B5882E1-A138-4922-BAAE-CDAF8BC88581}"/>
              </a:ext>
            </a:extLst>
          </p:cNvPr>
          <p:cNvSpPr>
            <a:spLocks noGrp="1"/>
          </p:cNvSpPr>
          <p:nvPr/>
        </p:nvSpPr>
        <p:spPr>
          <a:xfrm>
            <a:off x="5449504" y="3166839"/>
            <a:ext cx="1181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46170"/>
                </a:solidFill>
                <a:latin typeface="Aptos"/>
                <a:ea typeface="Aptos"/>
                <a:cs typeface="Aptos"/>
              </a:rPr>
              <a:t>типы регистров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C370F2-2C85-4D0E-A30B-ABF7BB8702AA}"/>
              </a:ext>
            </a:extLst>
          </p:cNvPr>
          <p:cNvSpPr>
            <a:spLocks noGrp="1"/>
          </p:cNvSpPr>
          <p:nvPr/>
        </p:nvSpPr>
        <p:spPr>
          <a:xfrm>
            <a:off x="7240262" y="3057614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diagram-node">
            <a:extLst>
              <a:ext uri="{FF2B5EF4-FFF2-40B4-BE49-F238E27FC236}">
                <a16:creationId xmlns:a16="http://schemas.microsoft.com/office/drawing/2014/main" id="{44781C0C-F0A2-4D80-8532-C6E652542DAF}"/>
              </a:ext>
            </a:extLst>
          </p:cNvPr>
          <p:cNvSpPr>
            <a:spLocks noGrp="1"/>
          </p:cNvSpPr>
          <p:nvPr/>
        </p:nvSpPr>
        <p:spPr>
          <a:xfrm>
            <a:off x="7365662" y="2652078"/>
            <a:ext cx="15240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8" name="node-accent">
            <a:extLst>
              <a:ext uri="{FF2B5EF4-FFF2-40B4-BE49-F238E27FC236}">
                <a16:creationId xmlns:a16="http://schemas.microsoft.com/office/drawing/2014/main" id="{399ADCA4-EDFB-4131-915B-C4640BCC5E33}"/>
              </a:ext>
            </a:extLst>
          </p:cNvPr>
          <p:cNvSpPr>
            <a:spLocks noGrp="1"/>
          </p:cNvSpPr>
          <p:nvPr/>
        </p:nvSpPr>
        <p:spPr>
          <a:xfrm>
            <a:off x="7365662" y="2652078"/>
            <a:ext cx="57150" cy="10477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AD62CE-97B3-40FB-8FE4-6741E2692987}"/>
              </a:ext>
            </a:extLst>
          </p:cNvPr>
          <p:cNvSpPr>
            <a:spLocks noGrp="1"/>
          </p:cNvSpPr>
          <p:nvPr/>
        </p:nvSpPr>
        <p:spPr>
          <a:xfrm>
            <a:off x="7537112" y="2785428"/>
            <a:ext cx="1181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Инструкция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7C6AFB7-286F-4410-88AF-BE8435539CC2}"/>
              </a:ext>
            </a:extLst>
          </p:cNvPr>
          <p:cNvSpPr>
            <a:spLocks noGrp="1"/>
          </p:cNvSpPr>
          <p:nvPr/>
        </p:nvSpPr>
        <p:spPr>
          <a:xfrm>
            <a:off x="7537112" y="3166428"/>
            <a:ext cx="1181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46170"/>
                </a:solidFill>
                <a:latin typeface="Aptos"/>
                <a:ea typeface="Aptos"/>
                <a:cs typeface="Aptos"/>
              </a:rPr>
              <a:t>абстрактная интерпретация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9D5FE8-518B-4C67-96D4-F60E475D645E}"/>
              </a:ext>
            </a:extLst>
          </p:cNvPr>
          <p:cNvSpPr>
            <a:spLocks noGrp="1"/>
          </p:cNvSpPr>
          <p:nvPr/>
        </p:nvSpPr>
        <p:spPr>
          <a:xfrm>
            <a:off x="9315261" y="305731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diagram-node">
            <a:extLst>
              <a:ext uri="{FF2B5EF4-FFF2-40B4-BE49-F238E27FC236}">
                <a16:creationId xmlns:a16="http://schemas.microsoft.com/office/drawing/2014/main" id="{4036407A-853A-474E-A2A8-71A6D925724A}"/>
              </a:ext>
            </a:extLst>
          </p:cNvPr>
          <p:cNvSpPr>
            <a:spLocks noGrp="1"/>
          </p:cNvSpPr>
          <p:nvPr/>
        </p:nvSpPr>
        <p:spPr>
          <a:xfrm>
            <a:off x="9486711" y="2657260"/>
            <a:ext cx="15240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34" name="node-accent">
            <a:extLst>
              <a:ext uri="{FF2B5EF4-FFF2-40B4-BE49-F238E27FC236}">
                <a16:creationId xmlns:a16="http://schemas.microsoft.com/office/drawing/2014/main" id="{BF92D98E-4333-4CE0-86F6-F1474D1A52E3}"/>
              </a:ext>
            </a:extLst>
          </p:cNvPr>
          <p:cNvSpPr>
            <a:spLocks noGrp="1"/>
          </p:cNvSpPr>
          <p:nvPr/>
        </p:nvSpPr>
        <p:spPr>
          <a:xfrm>
            <a:off x="9486711" y="2657260"/>
            <a:ext cx="57150" cy="1047750"/>
          </a:xfrm>
          <a:prstGeom prst="rect">
            <a:avLst/>
          </a:prstGeom>
          <a:solidFill>
            <a:srgbClr val="A43D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5BAF9BD-7E4E-4F8A-B386-0B6CF2449B57}"/>
              </a:ext>
            </a:extLst>
          </p:cNvPr>
          <p:cNvSpPr>
            <a:spLocks noGrp="1"/>
          </p:cNvSpPr>
          <p:nvPr/>
        </p:nvSpPr>
        <p:spPr>
          <a:xfrm>
            <a:off x="9658161" y="2790610"/>
            <a:ext cx="1181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lang="ru-RU" sz="1425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Результат</a:t>
            </a:r>
            <a:endParaRPr sz="1425" b="1" dirty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7FD21D0-8860-4E6B-83B7-1350B92DCE51}"/>
              </a:ext>
            </a:extLst>
          </p:cNvPr>
          <p:cNvSpPr>
            <a:spLocks noGrp="1"/>
          </p:cNvSpPr>
          <p:nvPr/>
        </p:nvSpPr>
        <p:spPr>
          <a:xfrm>
            <a:off x="9658161" y="3171610"/>
            <a:ext cx="1181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46170"/>
                </a:solidFill>
                <a:latin typeface="Aptos"/>
                <a:ea typeface="Aptos"/>
                <a:cs typeface="Aptos"/>
              </a:rPr>
              <a:t>pass / reject / NPE</a:t>
            </a:r>
          </a:p>
        </p:txBody>
      </p:sp>
      <p:sp>
        <p:nvSpPr>
          <p:cNvPr id="37" name="principles">
            <a:extLst>
              <a:ext uri="{FF2B5EF4-FFF2-40B4-BE49-F238E27FC236}">
                <a16:creationId xmlns:a16="http://schemas.microsoft.com/office/drawing/2014/main" id="{44A6785B-D31B-4AE7-87E1-E463D91CB648}"/>
              </a:ext>
            </a:extLst>
          </p:cNvPr>
          <p:cNvSpPr>
            <a:spLocks noGrp="1"/>
          </p:cNvSpPr>
          <p:nvPr/>
        </p:nvSpPr>
        <p:spPr>
          <a:xfrm>
            <a:off x="1609209" y="4720570"/>
            <a:ext cx="9230052" cy="1327451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  <p:txBody>
          <a:bodyPr/>
          <a:lstStyle/>
          <a:p>
            <a:endParaRPr lang="en-RU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4266D7B-FB58-45B0-B444-9D0BD828642D}"/>
              </a:ext>
            </a:extLst>
          </p:cNvPr>
          <p:cNvSpPr>
            <a:spLocks noGrp="1"/>
          </p:cNvSpPr>
          <p:nvPr/>
        </p:nvSpPr>
        <p:spPr>
          <a:xfrm>
            <a:off x="1928460" y="475898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Ключевые</a:t>
            </a:r>
            <a:r>
              <a:rPr sz="1575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1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свойства</a:t>
            </a:r>
            <a:r>
              <a:rPr sz="1575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1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анализа</a:t>
            </a:r>
            <a:endParaRPr sz="1575" b="1" dirty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bullet-marker">
            <a:extLst>
              <a:ext uri="{FF2B5EF4-FFF2-40B4-BE49-F238E27FC236}">
                <a16:creationId xmlns:a16="http://schemas.microsoft.com/office/drawing/2014/main" id="{78087482-011E-4E37-88F2-9F69ACEB9916}"/>
              </a:ext>
            </a:extLst>
          </p:cNvPr>
          <p:cNvSpPr>
            <a:spLocks noGrp="1"/>
          </p:cNvSpPr>
          <p:nvPr/>
        </p:nvSpPr>
        <p:spPr>
          <a:xfrm>
            <a:off x="1928460" y="5216180"/>
            <a:ext cx="76200" cy="76200"/>
          </a:xfrm>
          <a:prstGeom prst="rect">
            <a:avLst/>
          </a:prstGeom>
          <a:solidFill>
            <a:srgbClr val="A43D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D1F58D1-267A-4DE4-AB3A-4622021EDE7C}"/>
              </a:ext>
            </a:extLst>
          </p:cNvPr>
          <p:cNvSpPr>
            <a:spLocks noGrp="1"/>
          </p:cNvSpPr>
          <p:nvPr/>
        </p:nvSpPr>
        <p:spPr>
          <a:xfrm>
            <a:off x="2138010" y="5139980"/>
            <a:ext cx="8172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консервативность: успешная проверка не должна пропускать типовую ошибку</a:t>
            </a:r>
          </a:p>
        </p:txBody>
      </p:sp>
      <p:sp>
        <p:nvSpPr>
          <p:cNvPr id="41" name="bullet-marker">
            <a:extLst>
              <a:ext uri="{FF2B5EF4-FFF2-40B4-BE49-F238E27FC236}">
                <a16:creationId xmlns:a16="http://schemas.microsoft.com/office/drawing/2014/main" id="{B472B4EB-CFE8-46C0-8650-5CB4EDB5D316}"/>
              </a:ext>
            </a:extLst>
          </p:cNvPr>
          <p:cNvSpPr>
            <a:spLocks noGrp="1"/>
          </p:cNvSpPr>
          <p:nvPr/>
        </p:nvSpPr>
        <p:spPr>
          <a:xfrm>
            <a:off x="1928460" y="5501930"/>
            <a:ext cx="76200" cy="76200"/>
          </a:xfrm>
          <a:prstGeom prst="rect">
            <a:avLst/>
          </a:prstGeom>
          <a:solidFill>
            <a:srgbClr val="A43D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7AADA44-6F64-40C2-9FD8-C5F5B8E43A55}"/>
              </a:ext>
            </a:extLst>
          </p:cNvPr>
          <p:cNvSpPr>
            <a:spLocks noGrp="1"/>
          </p:cNvSpPr>
          <p:nvPr/>
        </p:nvSpPr>
        <p:spPr>
          <a:xfrm>
            <a:off x="2138010" y="5425730"/>
            <a:ext cx="8172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конечность: алгоритм должен завершаться на реальных методах</a:t>
            </a:r>
          </a:p>
        </p:txBody>
      </p:sp>
      <p:sp>
        <p:nvSpPr>
          <p:cNvPr id="43" name="bullet-marker">
            <a:extLst>
              <a:ext uri="{FF2B5EF4-FFF2-40B4-BE49-F238E27FC236}">
                <a16:creationId xmlns:a16="http://schemas.microsoft.com/office/drawing/2014/main" id="{EE10A207-C68B-4CBE-B303-8DFE65A29035}"/>
              </a:ext>
            </a:extLst>
          </p:cNvPr>
          <p:cNvSpPr>
            <a:spLocks noGrp="1"/>
          </p:cNvSpPr>
          <p:nvPr/>
        </p:nvSpPr>
        <p:spPr>
          <a:xfrm>
            <a:off x="1928460" y="5787680"/>
            <a:ext cx="76200" cy="76200"/>
          </a:xfrm>
          <a:prstGeom prst="rect">
            <a:avLst/>
          </a:prstGeom>
          <a:solidFill>
            <a:srgbClr val="A43D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BC58F61-4047-4F57-8EF6-DF3BBBD6C521}"/>
              </a:ext>
            </a:extLst>
          </p:cNvPr>
          <p:cNvSpPr>
            <a:spLocks noGrp="1"/>
          </p:cNvSpPr>
          <p:nvPr/>
        </p:nvSpPr>
        <p:spPr>
          <a:xfrm>
            <a:off x="2138010" y="5711480"/>
            <a:ext cx="8172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согласование: абстрактная модель должна быть близка к runtime-семантике</a:t>
            </a:r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30C6CC3B-55B1-59B0-AA10-AF3BE0C4A56B}"/>
              </a:ext>
            </a:extLst>
          </p:cNvPr>
          <p:cNvSpPr/>
          <p:nvPr/>
        </p:nvSpPr>
        <p:spPr>
          <a:xfrm rot="16200000">
            <a:off x="5938661" y="-1090615"/>
            <a:ext cx="314677" cy="991891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319A21F-83C9-FEE7-9414-B2AA9F8A7B45}"/>
              </a:ext>
            </a:extLst>
          </p:cNvPr>
          <p:cNvSpPr>
            <a:spLocks noGrp="1"/>
          </p:cNvSpPr>
          <p:nvPr/>
        </p:nvSpPr>
        <p:spPr>
          <a:xfrm rot="5400000">
            <a:off x="10333325" y="2175805"/>
            <a:ext cx="95127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endParaRPr sz="1650" b="1" dirty="0">
              <a:solidFill>
                <a:srgbClr val="0F76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8" name="diagram-node">
            <a:extLst>
              <a:ext uri="{FF2B5EF4-FFF2-40B4-BE49-F238E27FC236}">
                <a16:creationId xmlns:a16="http://schemas.microsoft.com/office/drawing/2014/main" id="{5860C616-7F9A-3DEB-CFDD-D5404C646D65}"/>
              </a:ext>
            </a:extLst>
          </p:cNvPr>
          <p:cNvSpPr>
            <a:spLocks noGrp="1"/>
          </p:cNvSpPr>
          <p:nvPr/>
        </p:nvSpPr>
        <p:spPr>
          <a:xfrm>
            <a:off x="10466614" y="1813916"/>
            <a:ext cx="1524000" cy="5813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49" name="node-accent">
            <a:extLst>
              <a:ext uri="{FF2B5EF4-FFF2-40B4-BE49-F238E27FC236}">
                <a16:creationId xmlns:a16="http://schemas.microsoft.com/office/drawing/2014/main" id="{C2AFBE46-2B4A-64B9-8C70-0DC344AB2ACB}"/>
              </a:ext>
            </a:extLst>
          </p:cNvPr>
          <p:cNvSpPr>
            <a:spLocks noGrp="1"/>
          </p:cNvSpPr>
          <p:nvPr/>
        </p:nvSpPr>
        <p:spPr>
          <a:xfrm>
            <a:off x="10466614" y="1813916"/>
            <a:ext cx="57150" cy="581331"/>
          </a:xfrm>
          <a:prstGeom prst="rect">
            <a:avLst/>
          </a:prstGeom>
          <a:solidFill>
            <a:srgbClr val="92D050"/>
          </a:solidFill>
          <a:ln w="0">
            <a:solidFill>
              <a:srgbClr val="92D05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5F30A85-C7C3-A610-CA68-26185BFF2FCE}"/>
              </a:ext>
            </a:extLst>
          </p:cNvPr>
          <p:cNvSpPr>
            <a:spLocks noGrp="1"/>
          </p:cNvSpPr>
          <p:nvPr/>
        </p:nvSpPr>
        <p:spPr>
          <a:xfrm>
            <a:off x="10676069" y="2011122"/>
            <a:ext cx="1181100" cy="19025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lang="ru-RU" sz="140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Выполнение</a:t>
            </a:r>
            <a:endParaRPr sz="1400" b="1" dirty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06DE612-2F14-9595-9E6A-6D32150A74D5}"/>
              </a:ext>
            </a:extLst>
          </p:cNvPr>
          <p:cNvSpPr>
            <a:spLocks noGrp="1"/>
          </p:cNvSpPr>
          <p:nvPr/>
        </p:nvSpPr>
        <p:spPr>
          <a:xfrm>
            <a:off x="29936" y="2213966"/>
            <a:ext cx="171450" cy="147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endParaRPr sz="1650" b="1" dirty="0">
              <a:solidFill>
                <a:srgbClr val="0F76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3" name="diagram-node">
            <a:extLst>
              <a:ext uri="{FF2B5EF4-FFF2-40B4-BE49-F238E27FC236}">
                <a16:creationId xmlns:a16="http://schemas.microsoft.com/office/drawing/2014/main" id="{69CC8F95-4688-BB64-B9C2-2A77763C5D4E}"/>
              </a:ext>
            </a:extLst>
          </p:cNvPr>
          <p:cNvSpPr>
            <a:spLocks noGrp="1"/>
          </p:cNvSpPr>
          <p:nvPr/>
        </p:nvSpPr>
        <p:spPr>
          <a:xfrm>
            <a:off x="201386" y="1813916"/>
            <a:ext cx="1524000" cy="5813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54" name="node-accent">
            <a:extLst>
              <a:ext uri="{FF2B5EF4-FFF2-40B4-BE49-F238E27FC236}">
                <a16:creationId xmlns:a16="http://schemas.microsoft.com/office/drawing/2014/main" id="{9843F575-8D0F-4CFF-39A9-AA8753B9E365}"/>
              </a:ext>
            </a:extLst>
          </p:cNvPr>
          <p:cNvSpPr>
            <a:spLocks noGrp="1"/>
          </p:cNvSpPr>
          <p:nvPr/>
        </p:nvSpPr>
        <p:spPr>
          <a:xfrm>
            <a:off x="201386" y="1813916"/>
            <a:ext cx="57150" cy="581331"/>
          </a:xfrm>
          <a:prstGeom prst="rect">
            <a:avLst/>
          </a:prstGeom>
          <a:solidFill>
            <a:srgbClr val="92D050"/>
          </a:solidFill>
          <a:ln w="0">
            <a:solidFill>
              <a:srgbClr val="92D050">
                <a:alpha val="0"/>
              </a:srgbClr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9B50EC6-B2BE-9773-8061-DD48CC4ADF50}"/>
              </a:ext>
            </a:extLst>
          </p:cNvPr>
          <p:cNvSpPr>
            <a:spLocks noGrp="1"/>
          </p:cNvSpPr>
          <p:nvPr/>
        </p:nvSpPr>
        <p:spPr>
          <a:xfrm>
            <a:off x="361950" y="2011122"/>
            <a:ext cx="1181100" cy="19025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lang="ru-RU" sz="140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Загрузка</a:t>
            </a:r>
            <a:endParaRPr sz="1400" b="1" dirty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7" name="arrow-line">
            <a:extLst>
              <a:ext uri="{FF2B5EF4-FFF2-40B4-BE49-F238E27FC236}">
                <a16:creationId xmlns:a16="http://schemas.microsoft.com/office/drawing/2014/main" id="{E2870BA3-591D-8445-83E0-24217F15618A}"/>
              </a:ext>
            </a:extLst>
          </p:cNvPr>
          <p:cNvSpPr>
            <a:spLocks noGrp="1"/>
          </p:cNvSpPr>
          <p:nvPr/>
        </p:nvSpPr>
        <p:spPr>
          <a:xfrm>
            <a:off x="2582093" y="3135416"/>
            <a:ext cx="441415" cy="45719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arrow-line">
            <a:extLst>
              <a:ext uri="{FF2B5EF4-FFF2-40B4-BE49-F238E27FC236}">
                <a16:creationId xmlns:a16="http://schemas.microsoft.com/office/drawing/2014/main" id="{37E2F73F-6F65-C854-A996-863F5433E8CC}"/>
              </a:ext>
            </a:extLst>
          </p:cNvPr>
          <p:cNvSpPr>
            <a:spLocks noGrp="1"/>
          </p:cNvSpPr>
          <p:nvPr/>
        </p:nvSpPr>
        <p:spPr>
          <a:xfrm>
            <a:off x="6802054" y="3153094"/>
            <a:ext cx="441415" cy="45719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arrow-line">
            <a:extLst>
              <a:ext uri="{FF2B5EF4-FFF2-40B4-BE49-F238E27FC236}">
                <a16:creationId xmlns:a16="http://schemas.microsoft.com/office/drawing/2014/main" id="{17DE005E-0132-26A0-6B0B-8FC277150922}"/>
              </a:ext>
            </a:extLst>
          </p:cNvPr>
          <p:cNvSpPr>
            <a:spLocks noGrp="1"/>
          </p:cNvSpPr>
          <p:nvPr/>
        </p:nvSpPr>
        <p:spPr>
          <a:xfrm>
            <a:off x="8889663" y="3160375"/>
            <a:ext cx="441415" cy="45719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9C5E230-1BEE-C3E3-C1CF-11E809D210C7}"/>
              </a:ext>
            </a:extLst>
          </p:cNvPr>
          <p:cNvCxnSpPr>
            <a:cxnSpLocks/>
            <a:stCxn id="53" idx="2"/>
            <a:endCxn id="10" idx="1"/>
          </p:cNvCxnSpPr>
          <p:nvPr/>
        </p:nvCxnSpPr>
        <p:spPr>
          <a:xfrm>
            <a:off x="963386" y="2395247"/>
            <a:ext cx="271557" cy="768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A8A9F02-507C-A978-FCC7-F2BC3FEF4430}"/>
              </a:ext>
            </a:extLst>
          </p:cNvPr>
          <p:cNvCxnSpPr>
            <a:cxnSpLocks/>
            <a:stCxn id="33" idx="3"/>
            <a:endCxn id="48" idx="2"/>
          </p:cNvCxnSpPr>
          <p:nvPr/>
        </p:nvCxnSpPr>
        <p:spPr>
          <a:xfrm flipV="1">
            <a:off x="11010711" y="2395247"/>
            <a:ext cx="217903" cy="785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diagram-node">
            <a:extLst>
              <a:ext uri="{FF2B5EF4-FFF2-40B4-BE49-F238E27FC236}">
                <a16:creationId xmlns:a16="http://schemas.microsoft.com/office/drawing/2014/main" id="{3FF7300A-E6B3-233F-0E00-EB35DF5B93A6}"/>
              </a:ext>
            </a:extLst>
          </p:cNvPr>
          <p:cNvSpPr>
            <a:spLocks noGrp="1"/>
          </p:cNvSpPr>
          <p:nvPr/>
        </p:nvSpPr>
        <p:spPr>
          <a:xfrm>
            <a:off x="5345728" y="4058279"/>
            <a:ext cx="1524000" cy="5813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5DB0FF-D99E-0828-A87E-2485CBA5C4C4}"/>
              </a:ext>
            </a:extLst>
          </p:cNvPr>
          <p:cNvSpPr txBox="1"/>
          <p:nvPr/>
        </p:nvSpPr>
        <p:spPr>
          <a:xfrm>
            <a:off x="5449504" y="4195054"/>
            <a:ext cx="12563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Верификация</a:t>
            </a:r>
            <a:endParaRPr lang="en-RU" sz="1400" b="1" dirty="0"/>
          </a:p>
        </p:txBody>
      </p:sp>
      <p:sp>
        <p:nvSpPr>
          <p:cNvPr id="71" name="node-accent">
            <a:extLst>
              <a:ext uri="{FF2B5EF4-FFF2-40B4-BE49-F238E27FC236}">
                <a16:creationId xmlns:a16="http://schemas.microsoft.com/office/drawing/2014/main" id="{01163298-9A0D-1D8A-77FF-ADFA7565C54B}"/>
              </a:ext>
            </a:extLst>
          </p:cNvPr>
          <p:cNvSpPr>
            <a:spLocks noGrp="1"/>
          </p:cNvSpPr>
          <p:nvPr/>
        </p:nvSpPr>
        <p:spPr>
          <a:xfrm>
            <a:off x="5348449" y="4058278"/>
            <a:ext cx="57150" cy="581331"/>
          </a:xfrm>
          <a:prstGeom prst="rect">
            <a:avLst/>
          </a:prstGeom>
          <a:solidFill>
            <a:srgbClr val="92D050"/>
          </a:solidFill>
          <a:ln w="0">
            <a:solidFill>
              <a:srgbClr val="92D050">
                <a:alpha val="0"/>
              </a:srgbClr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6C17E7-1D4A-5A02-DB20-99DF2073ADC8}"/>
              </a:ext>
            </a:extLst>
          </p:cNvPr>
          <p:cNvSpPr txBox="1"/>
          <p:nvPr/>
        </p:nvSpPr>
        <p:spPr>
          <a:xfrm>
            <a:off x="11667281" y="64933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16865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ackground">
            <a:extLst>
              <a:ext uri="{FF2B5EF4-FFF2-40B4-BE49-F238E27FC236}">
                <a16:creationId xmlns:a16="http://schemas.microsoft.com/office/drawing/2014/main" id="{CB1E2A39-AAD1-4D42-87C5-1A5B4149A928}"/>
              </a:ext>
            </a:extLst>
          </p:cNvPr>
          <p:cNvSpPr>
            <a:spLocks noGrp="1"/>
          </p:cNvSpPr>
          <p:nvPr/>
        </p:nvSpPr>
        <p:spPr>
          <a:xfrm>
            <a:off x="0" y="-17092"/>
            <a:ext cx="12192000" cy="6858000"/>
          </a:xfrm>
          <a:prstGeom prst="rect">
            <a:avLst/>
          </a:prstGeom>
          <a:solidFill>
            <a:srgbClr val="F7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F08DA549-8FA5-4BB0-AC1B-76E6F137AE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footer-rule">
            <a:extLst>
              <a:ext uri="{FF2B5EF4-FFF2-40B4-BE49-F238E27FC236}">
                <a16:creationId xmlns:a16="http://schemas.microsoft.com/office/drawing/2014/main" id="{BD61A3BD-99B9-4813-95B2-3F39E6FD3097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6858000" cy="9525"/>
          </a:xfrm>
          <a:prstGeom prst="rect">
            <a:avLst/>
          </a:prstGeom>
          <a:solidFill>
            <a:srgbClr val="D8D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1BC746-4541-4CB2-9F06-C5C0490B3BDA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bytecode verifier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588C3F-65AB-4E71-A804-9FCAB74FADB0}"/>
              </a:ext>
            </a:extLst>
          </p:cNvPr>
          <p:cNvSpPr>
            <a:spLocks noGrp="1"/>
          </p:cNvSpPr>
          <p:nvPr/>
        </p:nvSpPr>
        <p:spPr>
          <a:xfrm>
            <a:off x="10382250" y="640080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5461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kicker-marker">
            <a:extLst>
              <a:ext uri="{FF2B5EF4-FFF2-40B4-BE49-F238E27FC236}">
                <a16:creationId xmlns:a16="http://schemas.microsoft.com/office/drawing/2014/main" id="{14929F10-F454-45E7-935F-B3770417CAC4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28575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>
              <a:ext uri="{FF2B5EF4-FFF2-40B4-BE49-F238E27FC236}">
                <a16:creationId xmlns:a16="http://schemas.microsoft.com/office/drawing/2014/main" id="{0FDD7FB5-F26B-4844-B986-59EC3EB6F0A3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КОНТЕКСТ ARKTS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D4445B-BF1C-4C83-9055-CAFAB8B1D026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8953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270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Семантические особенности платформы</a:t>
            </a:r>
            <a:r>
              <a:rPr sz="270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9" name="context-card">
            <a:extLst>
              <a:ext uri="{FF2B5EF4-FFF2-40B4-BE49-F238E27FC236}">
                <a16:creationId xmlns:a16="http://schemas.microsoft.com/office/drawing/2014/main" id="{8D42F1E0-A1F8-42EC-BC40-E84F337B0378}"/>
              </a:ext>
            </a:extLst>
          </p:cNvPr>
          <p:cNvSpPr>
            <a:spLocks noGrp="1"/>
          </p:cNvSpPr>
          <p:nvPr/>
        </p:nvSpPr>
        <p:spPr>
          <a:xfrm>
            <a:off x="685800" y="2106010"/>
            <a:ext cx="32385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0" name="context-accent">
            <a:extLst>
              <a:ext uri="{FF2B5EF4-FFF2-40B4-BE49-F238E27FC236}">
                <a16:creationId xmlns:a16="http://schemas.microsoft.com/office/drawing/2014/main" id="{BDC98F92-3429-489B-B7AC-29CEBAE7C8D2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3238500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321499-26B6-4753-BBC9-7BB812BB09C1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2781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Union-типы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053C97-E532-4D3C-8AF9-FCEC1E5212D7}"/>
              </a:ext>
            </a:extLst>
          </p:cNvPr>
          <p:cNvSpPr>
            <a:spLocks noGrp="1"/>
          </p:cNvSpPr>
          <p:nvPr/>
        </p:nvSpPr>
        <p:spPr>
          <a:xfrm>
            <a:off x="914400" y="2895600"/>
            <a:ext cx="27813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lang="ru-RU" sz="135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с</a:t>
            </a:r>
            <a:r>
              <a:rPr lang="ru-RU"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остоит из нескольких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ссылочных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классов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;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общий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член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должен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вызываться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безопасно</a:t>
            </a:r>
            <a:endParaRPr sz="1350" b="0" dirty="0">
              <a:solidFill>
                <a:srgbClr val="5461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ag">
            <a:extLst>
              <a:ext uri="{FF2B5EF4-FFF2-40B4-BE49-F238E27FC236}">
                <a16:creationId xmlns:a16="http://schemas.microsoft.com/office/drawing/2014/main" id="{0D27C009-A66C-4C26-8782-8A245FB50CF6}"/>
              </a:ext>
            </a:extLst>
          </p:cNvPr>
          <p:cNvSpPr>
            <a:spLocks noGrp="1"/>
          </p:cNvSpPr>
          <p:nvPr/>
        </p:nvSpPr>
        <p:spPr>
          <a:xfrm>
            <a:off x="914400" y="3905250"/>
            <a:ext cx="1714500" cy="304800"/>
          </a:xfrm>
          <a:prstGeom prst="rect">
            <a:avLst/>
          </a:prstGeom>
          <a:solidFill>
            <a:srgbClr val="E7F3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F3EAA2-1A7B-440A-BF64-B6C3A12EA38E}"/>
              </a:ext>
            </a:extLst>
          </p:cNvPr>
          <p:cNvSpPr>
            <a:spLocks noGrp="1"/>
          </p:cNvSpPr>
          <p:nvPr/>
        </p:nvSpPr>
        <p:spPr>
          <a:xfrm>
            <a:off x="1028700" y="3971925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 | B</a:t>
            </a:r>
          </a:p>
        </p:txBody>
      </p:sp>
      <p:sp>
        <p:nvSpPr>
          <p:cNvPr id="15" name="context-card">
            <a:extLst>
              <a:ext uri="{FF2B5EF4-FFF2-40B4-BE49-F238E27FC236}">
                <a16:creationId xmlns:a16="http://schemas.microsoft.com/office/drawing/2014/main" id="{8F2BDDC1-7712-4342-88D2-E94921C02B0E}"/>
              </a:ext>
            </a:extLst>
          </p:cNvPr>
          <p:cNvSpPr>
            <a:spLocks noGrp="1"/>
          </p:cNvSpPr>
          <p:nvPr/>
        </p:nvSpPr>
        <p:spPr>
          <a:xfrm>
            <a:off x="4400550" y="2095500"/>
            <a:ext cx="32385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6" name="context-accent">
            <a:extLst>
              <a:ext uri="{FF2B5EF4-FFF2-40B4-BE49-F238E27FC236}">
                <a16:creationId xmlns:a16="http://schemas.microsoft.com/office/drawing/2014/main" id="{04F57CD2-1D66-4373-8CCC-4838EADB9B70}"/>
              </a:ext>
            </a:extLst>
          </p:cNvPr>
          <p:cNvSpPr>
            <a:spLocks noGrp="1"/>
          </p:cNvSpPr>
          <p:nvPr/>
        </p:nvSpPr>
        <p:spPr>
          <a:xfrm>
            <a:off x="4400550" y="2095500"/>
            <a:ext cx="3238500" cy="66675"/>
          </a:xfrm>
          <a:prstGeom prst="rect">
            <a:avLst/>
          </a:prstGeom>
          <a:solidFill>
            <a:srgbClr val="A43D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88D3CC-7BF3-4471-8A3F-B1CD162279B2}"/>
              </a:ext>
            </a:extLst>
          </p:cNvPr>
          <p:cNvSpPr>
            <a:spLocks noGrp="1"/>
          </p:cNvSpPr>
          <p:nvPr/>
        </p:nvSpPr>
        <p:spPr>
          <a:xfrm>
            <a:off x="4629150" y="2381250"/>
            <a:ext cx="2781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875" b="1" dirty="0" err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plugin</a:t>
            </a:r>
            <a:r>
              <a:rPr sz="1875" b="1" dirty="0" err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.call.name</a:t>
            </a:r>
            <a:r>
              <a:rPr sz="1875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.*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42C4F6-5B6D-4321-AF36-BE53B2669355}"/>
              </a:ext>
            </a:extLst>
          </p:cNvPr>
          <p:cNvSpPr>
            <a:spLocks noGrp="1"/>
          </p:cNvSpPr>
          <p:nvPr/>
        </p:nvSpPr>
        <p:spPr>
          <a:xfrm>
            <a:off x="4629150" y="2895600"/>
            <a:ext cx="27813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метод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задается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именем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,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а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конкретная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реализация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зависит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от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фактического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класса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объекта</a:t>
            </a:r>
            <a:endParaRPr sz="1350" b="0" dirty="0">
              <a:solidFill>
                <a:srgbClr val="5461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tag">
            <a:extLst>
              <a:ext uri="{FF2B5EF4-FFF2-40B4-BE49-F238E27FC236}">
                <a16:creationId xmlns:a16="http://schemas.microsoft.com/office/drawing/2014/main" id="{7C94D867-3CFC-4375-B3BC-560F4B3DDF35}"/>
              </a:ext>
            </a:extLst>
          </p:cNvPr>
          <p:cNvSpPr>
            <a:spLocks noGrp="1"/>
          </p:cNvSpPr>
          <p:nvPr/>
        </p:nvSpPr>
        <p:spPr>
          <a:xfrm>
            <a:off x="4629150" y="3905250"/>
            <a:ext cx="1714500" cy="304800"/>
          </a:xfrm>
          <a:prstGeom prst="rect">
            <a:avLst/>
          </a:prstGeom>
          <a:solidFill>
            <a:srgbClr val="F7ED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FED320-E137-43DE-8623-B62EC0E0D0C9}"/>
              </a:ext>
            </a:extLst>
          </p:cNvPr>
          <p:cNvSpPr>
            <a:spLocks noGrp="1"/>
          </p:cNvSpPr>
          <p:nvPr/>
        </p:nvSpPr>
        <p:spPr>
          <a:xfrm>
            <a:off x="4743450" y="3971925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A43D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43D2D"/>
                </a:solidFill>
                <a:latin typeface="Aptos"/>
                <a:ea typeface="Aptos"/>
                <a:cs typeface="Aptos"/>
              </a:rPr>
              <a:t>late dispatch</a:t>
            </a:r>
          </a:p>
        </p:txBody>
      </p:sp>
      <p:sp>
        <p:nvSpPr>
          <p:cNvPr id="21" name="context-card">
            <a:extLst>
              <a:ext uri="{FF2B5EF4-FFF2-40B4-BE49-F238E27FC236}">
                <a16:creationId xmlns:a16="http://schemas.microsoft.com/office/drawing/2014/main" id="{B12DA793-6197-48C7-AAFA-A14388EC7E0F}"/>
              </a:ext>
            </a:extLst>
          </p:cNvPr>
          <p:cNvSpPr>
            <a:spLocks noGrp="1"/>
          </p:cNvSpPr>
          <p:nvPr/>
        </p:nvSpPr>
        <p:spPr>
          <a:xfrm>
            <a:off x="8115300" y="2095500"/>
            <a:ext cx="32385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2" name="context-accent">
            <a:extLst>
              <a:ext uri="{FF2B5EF4-FFF2-40B4-BE49-F238E27FC236}">
                <a16:creationId xmlns:a16="http://schemas.microsoft.com/office/drawing/2014/main" id="{308512EC-9611-49BC-BEB0-276699DC53D5}"/>
              </a:ext>
            </a:extLst>
          </p:cNvPr>
          <p:cNvSpPr>
            <a:spLocks noGrp="1"/>
          </p:cNvSpPr>
          <p:nvPr/>
        </p:nvSpPr>
        <p:spPr>
          <a:xfrm>
            <a:off x="8115300" y="2095500"/>
            <a:ext cx="3238500" cy="66675"/>
          </a:xfrm>
          <a:prstGeom prst="rect">
            <a:avLst/>
          </a:prstGeom>
          <a:solidFill>
            <a:srgbClr val="A87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6E6EE9-AEEC-4064-B570-686DE78204A1}"/>
              </a:ext>
            </a:extLst>
          </p:cNvPr>
          <p:cNvSpPr>
            <a:spLocks noGrp="1"/>
          </p:cNvSpPr>
          <p:nvPr/>
        </p:nvSpPr>
        <p:spPr>
          <a:xfrm>
            <a:off x="8343900" y="2381250"/>
            <a:ext cx="2781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any.*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2096E2-9117-49DD-97F2-A5E6F71D4FC0}"/>
              </a:ext>
            </a:extLst>
          </p:cNvPr>
          <p:cNvSpPr>
            <a:spLocks noGrp="1"/>
          </p:cNvSpPr>
          <p:nvPr/>
        </p:nvSpPr>
        <p:spPr>
          <a:xfrm>
            <a:off x="8343900" y="2895600"/>
            <a:ext cx="27813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значения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пересекают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границу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статической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и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динамической</a:t>
            </a:r>
            <a:r>
              <a:rPr sz="135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среды</a:t>
            </a:r>
            <a:endParaRPr sz="1350" b="0" dirty="0">
              <a:solidFill>
                <a:srgbClr val="5461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tag">
            <a:extLst>
              <a:ext uri="{FF2B5EF4-FFF2-40B4-BE49-F238E27FC236}">
                <a16:creationId xmlns:a16="http://schemas.microsoft.com/office/drawing/2014/main" id="{D39C439D-73B1-46C8-B162-D1751B6658BA}"/>
              </a:ext>
            </a:extLst>
          </p:cNvPr>
          <p:cNvSpPr>
            <a:spLocks noGrp="1"/>
          </p:cNvSpPr>
          <p:nvPr/>
        </p:nvSpPr>
        <p:spPr>
          <a:xfrm>
            <a:off x="8343900" y="3905250"/>
            <a:ext cx="1714500" cy="304800"/>
          </a:xfrm>
          <a:prstGeom prst="rect">
            <a:avLst/>
          </a:prstGeom>
          <a:solidFill>
            <a:srgbClr val="F5EE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413310-8C0C-4F3E-B89A-FD7BB0518CD8}"/>
              </a:ext>
            </a:extLst>
          </p:cNvPr>
          <p:cNvSpPr>
            <a:spLocks noGrp="1"/>
          </p:cNvSpPr>
          <p:nvPr/>
        </p:nvSpPr>
        <p:spPr>
          <a:xfrm>
            <a:off x="8458200" y="3971925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A873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731A"/>
                </a:solidFill>
                <a:latin typeface="Aptos"/>
                <a:ea typeface="Aptos"/>
                <a:cs typeface="Aptos"/>
              </a:rPr>
              <a:t>static &lt;-&gt; dynamic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9459CD-7A7F-4305-829E-68B9EF355A0E}"/>
              </a:ext>
            </a:extLst>
          </p:cNvPr>
          <p:cNvSpPr>
            <a:spLocks noGrp="1"/>
          </p:cNvSpPr>
          <p:nvPr/>
        </p:nvSpPr>
        <p:spPr>
          <a:xfrm>
            <a:off x="838200" y="5010150"/>
            <a:ext cx="9906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Старая модель не всегда могла содержательно проверить эти инструкции: часть случаев отвергалась слишком грубо или оставалась заглушкой.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0BCAFD-2BE2-8070-6DC0-2E78F4854A76}"/>
              </a:ext>
            </a:extLst>
          </p:cNvPr>
          <p:cNvSpPr txBox="1"/>
          <p:nvPr/>
        </p:nvSpPr>
        <p:spPr>
          <a:xfrm>
            <a:off x="11667281" y="64933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21506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ackground">
            <a:extLst>
              <a:ext uri="{FF2B5EF4-FFF2-40B4-BE49-F238E27FC236}">
                <a16:creationId xmlns:a16="http://schemas.microsoft.com/office/drawing/2014/main" id="{DE29FD31-B37E-4EEF-A174-BBD211AB56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4EE90749-13F2-441D-958F-F482E1B84C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footer-rule">
            <a:extLst>
              <a:ext uri="{FF2B5EF4-FFF2-40B4-BE49-F238E27FC236}">
                <a16:creationId xmlns:a16="http://schemas.microsoft.com/office/drawing/2014/main" id="{3E8A4604-2D6A-4460-B201-D1CEE7993168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6858000" cy="9525"/>
          </a:xfrm>
          <a:prstGeom prst="rect">
            <a:avLst/>
          </a:prstGeom>
          <a:solidFill>
            <a:srgbClr val="D8D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464E9C-6C46-4E75-A2E9-A85D9B73CEAD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bytecode verifier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6FCB5F-568E-46CE-A3DB-F4774E829AFD}"/>
              </a:ext>
            </a:extLst>
          </p:cNvPr>
          <p:cNvSpPr>
            <a:spLocks noGrp="1"/>
          </p:cNvSpPr>
          <p:nvPr/>
        </p:nvSpPr>
        <p:spPr>
          <a:xfrm>
            <a:off x="10382250" y="640080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5461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kicker-marker">
            <a:extLst>
              <a:ext uri="{FF2B5EF4-FFF2-40B4-BE49-F238E27FC236}">
                <a16:creationId xmlns:a16="http://schemas.microsoft.com/office/drawing/2014/main" id="{470B0049-8345-45B5-98F4-FA9569218AF4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28575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>
              <a:ext uri="{FF2B5EF4-FFF2-40B4-BE49-F238E27FC236}">
                <a16:creationId xmlns:a16="http://schemas.microsoft.com/office/drawing/2014/main" id="{B3757425-7C9D-4100-BD15-38BFF2F0BB7E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ТИПОВАЯ МОДЕЛЬ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060D8B-DB01-4D9D-9A18-44315B2E5419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8953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Runtime union.</a:t>
            </a:r>
          </a:p>
        </p:txBody>
      </p:sp>
      <p:sp>
        <p:nvSpPr>
          <p:cNvPr id="9" name="before">
            <a:extLst>
              <a:ext uri="{FF2B5EF4-FFF2-40B4-BE49-F238E27FC236}">
                <a16:creationId xmlns:a16="http://schemas.microsoft.com/office/drawing/2014/main" id="{523245F8-A089-48DA-9E5A-1711E5CF9A8E}"/>
              </a:ext>
            </a:extLst>
          </p:cNvPr>
          <p:cNvSpPr>
            <a:spLocks noGrp="1"/>
          </p:cNvSpPr>
          <p:nvPr/>
        </p:nvSpPr>
        <p:spPr>
          <a:xfrm>
            <a:off x="6833507" y="1284030"/>
            <a:ext cx="4509407" cy="1683297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DB7249-8028-4212-B551-7783F419148B}"/>
              </a:ext>
            </a:extLst>
          </p:cNvPr>
          <p:cNvSpPr>
            <a:spLocks noGrp="1"/>
          </p:cNvSpPr>
          <p:nvPr/>
        </p:nvSpPr>
        <p:spPr>
          <a:xfrm>
            <a:off x="7119257" y="1531680"/>
            <a:ext cx="1119470" cy="2182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A43D2D"/>
                </a:solidFill>
                <a:latin typeface="Aptos Display"/>
                <a:ea typeface="Aptos Display"/>
                <a:cs typeface="Aptos Display"/>
              </a:defRPr>
            </a:pPr>
            <a:r>
              <a:rPr b="1" dirty="0" err="1">
                <a:solidFill>
                  <a:srgbClr val="A43D2D"/>
                </a:solidFill>
                <a:latin typeface="Aptos Display"/>
                <a:ea typeface="Aptos Display"/>
                <a:cs typeface="Aptos Display"/>
              </a:rPr>
              <a:t>До</a:t>
            </a:r>
            <a:endParaRPr b="1" dirty="0">
              <a:solidFill>
                <a:srgbClr val="A43D2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2960CE-8D96-42CA-A6BB-69EE6CFA68F2}"/>
              </a:ext>
            </a:extLst>
          </p:cNvPr>
          <p:cNvSpPr>
            <a:spLocks noGrp="1"/>
          </p:cNvSpPr>
          <p:nvPr/>
        </p:nvSpPr>
        <p:spPr>
          <a:xfrm>
            <a:off x="7119257" y="2093655"/>
            <a:ext cx="1212759" cy="34289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b="1" dirty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A | B</a:t>
            </a:r>
          </a:p>
        </p:txBody>
      </p:sp>
      <p:sp>
        <p:nvSpPr>
          <p:cNvPr id="12" name="arrow-line">
            <a:extLst>
              <a:ext uri="{FF2B5EF4-FFF2-40B4-BE49-F238E27FC236}">
                <a16:creationId xmlns:a16="http://schemas.microsoft.com/office/drawing/2014/main" id="{26EF38EF-554B-4774-BEC6-CCAA3DF0661E}"/>
              </a:ext>
            </a:extLst>
          </p:cNvPr>
          <p:cNvSpPr>
            <a:spLocks noGrp="1"/>
          </p:cNvSpPr>
          <p:nvPr/>
        </p:nvSpPr>
        <p:spPr>
          <a:xfrm>
            <a:off x="8456168" y="2256131"/>
            <a:ext cx="727655" cy="45719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9E591-1511-4D53-8DAD-DCBEF6D6199E}"/>
              </a:ext>
            </a:extLst>
          </p:cNvPr>
          <p:cNvSpPr>
            <a:spLocks noGrp="1"/>
          </p:cNvSpPr>
          <p:nvPr/>
        </p:nvSpPr>
        <p:spPr>
          <a:xfrm>
            <a:off x="9117499" y="2188029"/>
            <a:ext cx="167920" cy="2182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9024C5-640B-4280-BC3F-651034312130}"/>
              </a:ext>
            </a:extLst>
          </p:cNvPr>
          <p:cNvSpPr>
            <a:spLocks noGrp="1"/>
          </p:cNvSpPr>
          <p:nvPr/>
        </p:nvSpPr>
        <p:spPr>
          <a:xfrm>
            <a:off x="9538607" y="2093655"/>
            <a:ext cx="1212759" cy="34289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A43D2D"/>
                </a:solidFill>
                <a:latin typeface="Aptos Mono"/>
                <a:ea typeface="Aptos Mono"/>
                <a:cs typeface="Aptos Mono"/>
              </a:defRPr>
            </a:pPr>
            <a:r>
              <a:rPr sz="2000" b="1">
                <a:solidFill>
                  <a:srgbClr val="A43D2D"/>
                </a:solidFill>
                <a:latin typeface="Aptos Mono"/>
                <a:ea typeface="Aptos Mono"/>
                <a:cs typeface="Aptos Mono"/>
              </a:rPr>
              <a:t>Object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3B61E1-FBD4-4D7A-80E8-534CC544F9A1}"/>
              </a:ext>
            </a:extLst>
          </p:cNvPr>
          <p:cNvSpPr>
            <a:spLocks noGrp="1"/>
          </p:cNvSpPr>
          <p:nvPr/>
        </p:nvSpPr>
        <p:spPr>
          <a:xfrm>
            <a:off x="7030813" y="2665646"/>
            <a:ext cx="3864429" cy="37406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10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Состав</a:t>
            </a:r>
            <a:r>
              <a:rPr sz="11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объединения</a:t>
            </a:r>
            <a:r>
              <a:rPr sz="11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теряется</a:t>
            </a:r>
            <a:r>
              <a:rPr sz="11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, </a:t>
            </a:r>
            <a:r>
              <a:rPr sz="110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проверки</a:t>
            </a:r>
            <a:r>
              <a:rPr sz="11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становятся</a:t>
            </a:r>
            <a:r>
              <a:rPr sz="11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грубее</a:t>
            </a:r>
            <a:r>
              <a:rPr sz="11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6" name="after">
            <a:extLst>
              <a:ext uri="{FF2B5EF4-FFF2-40B4-BE49-F238E27FC236}">
                <a16:creationId xmlns:a16="http://schemas.microsoft.com/office/drawing/2014/main" id="{7C5DA310-A719-4430-BCD2-41AA733DD7CD}"/>
              </a:ext>
            </a:extLst>
          </p:cNvPr>
          <p:cNvSpPr>
            <a:spLocks noGrp="1"/>
          </p:cNvSpPr>
          <p:nvPr/>
        </p:nvSpPr>
        <p:spPr>
          <a:xfrm>
            <a:off x="6833507" y="3389540"/>
            <a:ext cx="4509407" cy="1856211"/>
          </a:xfrm>
          <a:prstGeom prst="rect">
            <a:avLst/>
          </a:prstGeom>
          <a:solidFill>
            <a:srgbClr val="E7F3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3DB6C2-83B3-406E-86C8-4A073635C2D9}"/>
              </a:ext>
            </a:extLst>
          </p:cNvPr>
          <p:cNvSpPr>
            <a:spLocks noGrp="1"/>
          </p:cNvSpPr>
          <p:nvPr/>
        </p:nvSpPr>
        <p:spPr>
          <a:xfrm>
            <a:off x="7119257" y="366576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После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9C6ED7-1108-48E4-A215-3968FDFD4348}"/>
              </a:ext>
            </a:extLst>
          </p:cNvPr>
          <p:cNvSpPr>
            <a:spLocks noGrp="1"/>
          </p:cNvSpPr>
          <p:nvPr/>
        </p:nvSpPr>
        <p:spPr>
          <a:xfrm>
            <a:off x="7119257" y="4218215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175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lang="en-GB" sz="2000" b="1" dirty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A | B</a:t>
            </a:r>
          </a:p>
          <a:p>
            <a:pPr algn="l">
              <a:defRPr sz="2175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endParaRPr sz="2000" b="1" dirty="0">
              <a:solidFill>
                <a:srgbClr val="17202A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B7E32F-971C-4DFB-B9F5-AD6B5BB02113}"/>
              </a:ext>
            </a:extLst>
          </p:cNvPr>
          <p:cNvSpPr>
            <a:spLocks noGrp="1"/>
          </p:cNvSpPr>
          <p:nvPr/>
        </p:nvSpPr>
        <p:spPr>
          <a:xfrm>
            <a:off x="9440607" y="4207524"/>
            <a:ext cx="2133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2000" b="1" dirty="0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{ A, B, ...}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6A47FE-05D8-4B1C-97AA-3D10A8A6B017}"/>
              </a:ext>
            </a:extLst>
          </p:cNvPr>
          <p:cNvSpPr>
            <a:spLocks noGrp="1"/>
          </p:cNvSpPr>
          <p:nvPr/>
        </p:nvSpPr>
        <p:spPr>
          <a:xfrm>
            <a:off x="6992063" y="4731401"/>
            <a:ext cx="419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Верификатор</a:t>
            </a:r>
            <a:r>
              <a:rPr sz="11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извлекает</a:t>
            </a:r>
            <a:r>
              <a:rPr sz="11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составляющие</a:t>
            </a:r>
            <a:r>
              <a:rPr sz="11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классы</a:t>
            </a:r>
            <a:r>
              <a:rPr sz="11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и</a:t>
            </a:r>
            <a:r>
              <a:rPr sz="11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использует</a:t>
            </a:r>
            <a:r>
              <a:rPr sz="11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их</a:t>
            </a:r>
            <a:r>
              <a:rPr sz="11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в</a:t>
            </a:r>
            <a:r>
              <a:rPr sz="11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подтипизации</a:t>
            </a:r>
            <a:r>
              <a:rPr sz="11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и</a:t>
            </a:r>
            <a:r>
              <a:rPr sz="11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анализе</a:t>
            </a:r>
            <a:r>
              <a:rPr sz="11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сигнатур</a:t>
            </a:r>
            <a:r>
              <a:rPr sz="11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6E5B1D-CAF5-4011-B553-4D108F0198AB}"/>
              </a:ext>
            </a:extLst>
          </p:cNvPr>
          <p:cNvSpPr>
            <a:spLocks noGrp="1"/>
          </p:cNvSpPr>
          <p:nvPr/>
        </p:nvSpPr>
        <p:spPr>
          <a:xfrm>
            <a:off x="685800" y="5851071"/>
            <a:ext cx="942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Опорное</a:t>
            </a:r>
            <a:r>
              <a:rPr sz="165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изменение</a:t>
            </a:r>
            <a:r>
              <a:rPr sz="165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: </a:t>
            </a:r>
            <a:r>
              <a:rPr sz="1650" b="1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отдельная</a:t>
            </a:r>
            <a:r>
              <a:rPr sz="165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ветвь</a:t>
            </a:r>
            <a:r>
              <a:rPr sz="165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логики</a:t>
            </a:r>
            <a:r>
              <a:rPr sz="165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для</a:t>
            </a:r>
            <a:r>
              <a:rPr sz="165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runtime-</a:t>
            </a:r>
            <a:r>
              <a:rPr sz="1650" b="1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классов</a:t>
            </a:r>
            <a:r>
              <a:rPr sz="165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, </a:t>
            </a:r>
            <a:r>
              <a:rPr sz="1650" b="1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помеченных</a:t>
            </a:r>
            <a:r>
              <a:rPr sz="165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как</a:t>
            </a:r>
            <a:r>
              <a:rPr sz="165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union.</a:t>
            </a:r>
          </a:p>
        </p:txBody>
      </p:sp>
      <p:sp>
        <p:nvSpPr>
          <p:cNvPr id="24" name="before">
            <a:extLst>
              <a:ext uri="{FF2B5EF4-FFF2-40B4-BE49-F238E27FC236}">
                <a16:creationId xmlns:a16="http://schemas.microsoft.com/office/drawing/2014/main" id="{15011437-8298-A582-B6FA-9FC5E053D9F5}"/>
              </a:ext>
            </a:extLst>
          </p:cNvPr>
          <p:cNvSpPr>
            <a:spLocks noGrp="1"/>
          </p:cNvSpPr>
          <p:nvPr/>
        </p:nvSpPr>
        <p:spPr>
          <a:xfrm>
            <a:off x="561409" y="1976437"/>
            <a:ext cx="4732564" cy="29051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D86F0E-CFE5-270D-22AD-6B2051986379}"/>
              </a:ext>
            </a:extLst>
          </p:cNvPr>
          <p:cNvSpPr txBox="1"/>
          <p:nvPr/>
        </p:nvSpPr>
        <p:spPr>
          <a:xfrm>
            <a:off x="667755" y="2852679"/>
            <a:ext cx="4732564" cy="1898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RU" b="0" dirty="0">
                <a:solidFill>
                  <a:srgbClr val="CF8E6D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RU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RU" b="0" dirty="0">
                <a:solidFill>
                  <a:srgbClr val="92D05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RU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RU" b="0" dirty="0">
                <a:solidFill>
                  <a:srgbClr val="56A8F5"/>
                </a:solidFill>
                <a:effectLst/>
                <a:latin typeface="Menlo" panose="020B0609030804020204" pitchFamily="49" charset="0"/>
              </a:rPr>
              <a:t>foo</a:t>
            </a:r>
            <a:r>
              <a:rPr lang="en-RU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() { </a:t>
            </a:r>
            <a:r>
              <a:rPr lang="en-RU" b="0" dirty="0">
                <a:solidFill>
                  <a:srgbClr val="CF8E6D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RU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RU" b="0" dirty="0">
                <a:solidFill>
                  <a:srgbClr val="2AACBB"/>
                </a:solidFill>
                <a:effectLst/>
                <a:latin typeface="Menlo" panose="020B0609030804020204" pitchFamily="49" charset="0"/>
              </a:rPr>
              <a:t>1 </a:t>
            </a:r>
            <a:r>
              <a:rPr lang="en-RU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} }</a:t>
            </a:r>
          </a:p>
          <a:p>
            <a:pPr>
              <a:lnSpc>
                <a:spcPts val="1350"/>
              </a:lnSpc>
              <a:buNone/>
            </a:pPr>
            <a:endParaRPr lang="en-RU" b="0" dirty="0">
              <a:solidFill>
                <a:srgbClr val="BCBEC4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RU" b="0" dirty="0">
                <a:solidFill>
                  <a:srgbClr val="CF8E6D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RU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RU" b="0" dirty="0">
                <a:solidFill>
                  <a:srgbClr val="92D050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en-RU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RU" b="0" dirty="0">
                <a:solidFill>
                  <a:srgbClr val="56A8F5"/>
                </a:solidFill>
                <a:effectLst/>
                <a:latin typeface="Menlo" panose="020B0609030804020204" pitchFamily="49" charset="0"/>
              </a:rPr>
              <a:t>foo</a:t>
            </a:r>
            <a:r>
              <a:rPr lang="en-RU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() { </a:t>
            </a:r>
            <a:r>
              <a:rPr lang="en-RU" b="0" dirty="0">
                <a:solidFill>
                  <a:srgbClr val="CF8E6D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RU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RU" b="0" dirty="0">
                <a:solidFill>
                  <a:srgbClr val="2AACBB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RU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 } }</a:t>
            </a:r>
          </a:p>
          <a:p>
            <a:pPr>
              <a:lnSpc>
                <a:spcPts val="1350"/>
              </a:lnSpc>
              <a:buNone/>
            </a:pPr>
            <a:br>
              <a:rPr lang="en-RU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</a:br>
            <a:endParaRPr lang="en-RU" b="0" dirty="0">
              <a:solidFill>
                <a:srgbClr val="BCBEC4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RU" b="0" dirty="0">
                <a:solidFill>
                  <a:srgbClr val="92D050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RU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RU" b="0" dirty="0">
                <a:solidFill>
                  <a:srgbClr val="56A8F5"/>
                </a:solidFill>
                <a:effectLst/>
                <a:latin typeface="Menlo" panose="020B0609030804020204" pitchFamily="49" charset="0"/>
              </a:rPr>
              <a:t>foo</a:t>
            </a:r>
            <a:r>
              <a:rPr lang="en-RU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RU" b="0" dirty="0">
                <a:solidFill>
                  <a:srgbClr val="92D050"/>
                </a:solidFill>
                <a:effectLst/>
                <a:latin typeface="Menlo" panose="020B0609030804020204" pitchFamily="49" charset="0"/>
              </a:rPr>
              <a:t>a: A|B</a:t>
            </a:r>
            <a:r>
              <a:rPr lang="en-RU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endParaRPr lang="en-RU" dirty="0">
              <a:solidFill>
                <a:srgbClr val="BCBEC4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RU" dirty="0">
                <a:solidFill>
                  <a:srgbClr val="BCBEC4"/>
                </a:solidFill>
                <a:latin typeface="Menlo" panose="020B0609030804020204" pitchFamily="49" charset="0"/>
              </a:rPr>
              <a:t>	</a:t>
            </a:r>
            <a:r>
              <a:rPr lang="en-RU" b="0" dirty="0">
                <a:solidFill>
                  <a:srgbClr val="92D05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RU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RU" b="0" dirty="0">
                <a:solidFill>
                  <a:srgbClr val="56A8F5"/>
                </a:solidFill>
                <a:effectLst/>
                <a:latin typeface="Menlo" panose="020B0609030804020204" pitchFamily="49" charset="0"/>
              </a:rPr>
              <a:t>foo</a:t>
            </a:r>
            <a:r>
              <a:rPr lang="en-RU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endParaRPr lang="en-RU" b="0" dirty="0">
              <a:solidFill>
                <a:srgbClr val="BCBEC4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RU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92CC39-B097-23AA-AB01-DC49E592E02F}"/>
              </a:ext>
            </a:extLst>
          </p:cNvPr>
          <p:cNvSpPr txBox="1"/>
          <p:nvPr/>
        </p:nvSpPr>
        <p:spPr>
          <a:xfrm>
            <a:off x="667755" y="2054780"/>
            <a:ext cx="1371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//example.ts</a:t>
            </a:r>
          </a:p>
        </p:txBody>
      </p:sp>
      <p:sp>
        <p:nvSpPr>
          <p:cNvPr id="26" name="arrow-line">
            <a:extLst>
              <a:ext uri="{FF2B5EF4-FFF2-40B4-BE49-F238E27FC236}">
                <a16:creationId xmlns:a16="http://schemas.microsoft.com/office/drawing/2014/main" id="{E2FFDC0A-EF2C-91D1-346D-B07CA0910B97}"/>
              </a:ext>
            </a:extLst>
          </p:cNvPr>
          <p:cNvSpPr>
            <a:spLocks noGrp="1"/>
          </p:cNvSpPr>
          <p:nvPr/>
        </p:nvSpPr>
        <p:spPr>
          <a:xfrm>
            <a:off x="8430308" y="4368049"/>
            <a:ext cx="727655" cy="45719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4FEFA6-303B-4AE4-B7BD-6876ED3BEA7D}"/>
              </a:ext>
            </a:extLst>
          </p:cNvPr>
          <p:cNvSpPr>
            <a:spLocks noGrp="1"/>
          </p:cNvSpPr>
          <p:nvPr/>
        </p:nvSpPr>
        <p:spPr>
          <a:xfrm rot="10800000" flipH="1" flipV="1">
            <a:off x="8798170" y="4305450"/>
            <a:ext cx="790961" cy="43664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EE7811-F96B-D0D0-7099-77DD1578FFC5}"/>
              </a:ext>
            </a:extLst>
          </p:cNvPr>
          <p:cNvSpPr txBox="1"/>
          <p:nvPr/>
        </p:nvSpPr>
        <p:spPr>
          <a:xfrm>
            <a:off x="11667281" y="64933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0481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background">
            <a:extLst>
              <a:ext uri="{FF2B5EF4-FFF2-40B4-BE49-F238E27FC236}">
                <a16:creationId xmlns:a16="http://schemas.microsoft.com/office/drawing/2014/main" id="{52D61D75-E820-4DEB-B2EC-17346D3A75FA}"/>
              </a:ext>
            </a:extLst>
          </p:cNvPr>
          <p:cNvSpPr>
            <a:spLocks noGrp="1"/>
          </p:cNvSpPr>
          <p:nvPr/>
        </p:nvSpPr>
        <p:spPr>
          <a:xfrm>
            <a:off x="0" y="-8546"/>
            <a:ext cx="12192000" cy="6858000"/>
          </a:xfrm>
          <a:prstGeom prst="rect">
            <a:avLst/>
          </a:prstGeom>
          <a:solidFill>
            <a:srgbClr val="F7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63B4B8DC-14FA-4136-B6E5-78530AEE0B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footer-rule">
            <a:extLst>
              <a:ext uri="{FF2B5EF4-FFF2-40B4-BE49-F238E27FC236}">
                <a16:creationId xmlns:a16="http://schemas.microsoft.com/office/drawing/2014/main" id="{4EF621A6-F73E-4C52-B22A-85E3E9076E54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6858000" cy="9525"/>
          </a:xfrm>
          <a:prstGeom prst="rect">
            <a:avLst/>
          </a:prstGeom>
          <a:solidFill>
            <a:srgbClr val="D8D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3B105B-53FC-492C-9DC2-141F82D62C99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bytecode verifier</a:t>
            </a:r>
          </a:p>
        </p:txBody>
      </p:sp>
      <p:sp>
        <p:nvSpPr>
          <p:cNvPr id="6" name="kicker-marker">
            <a:extLst>
              <a:ext uri="{FF2B5EF4-FFF2-40B4-BE49-F238E27FC236}">
                <a16:creationId xmlns:a16="http://schemas.microsoft.com/office/drawing/2014/main" id="{3C2BE4AE-0B63-46AF-AAE8-68F74DA0C100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28575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>
              <a:ext uri="{FF2B5EF4-FFF2-40B4-BE49-F238E27FC236}">
                <a16:creationId xmlns:a16="http://schemas.microsoft.com/office/drawing/2014/main" id="{9EE542D3-C84C-4D05-969F-EFF8F6653CCC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lang="en-US" sz="975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PLUGIN</a:t>
            </a:r>
            <a:r>
              <a:rPr sz="975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 ВЫЗОВЫ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464B5D-0CD4-47B5-8D30-49D98586994D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8953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700" b="1" dirty="0" err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plugin</a:t>
            </a:r>
            <a:r>
              <a:rPr sz="2700" b="1" dirty="0" err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.call.name</a:t>
            </a:r>
            <a:r>
              <a:rPr sz="270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.*</a:t>
            </a:r>
            <a:r>
              <a:rPr lang="ru-RU" sz="270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 инструкции</a:t>
            </a:r>
            <a:r>
              <a:rPr sz="270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9" name="code-box">
            <a:extLst>
              <a:ext uri="{FF2B5EF4-FFF2-40B4-BE49-F238E27FC236}">
                <a16:creationId xmlns:a16="http://schemas.microsoft.com/office/drawing/2014/main" id="{AF980704-B15F-4046-B36E-BAB1CD853E90}"/>
              </a:ext>
            </a:extLst>
          </p:cNvPr>
          <p:cNvSpPr>
            <a:spLocks noGrp="1"/>
          </p:cNvSpPr>
          <p:nvPr/>
        </p:nvSpPr>
        <p:spPr>
          <a:xfrm>
            <a:off x="632707" y="3561330"/>
            <a:ext cx="5905500" cy="1028700"/>
          </a:xfrm>
          <a:prstGeom prst="rect">
            <a:avLst/>
          </a:prstGeom>
          <a:solidFill>
            <a:srgbClr val="FAFAF8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13C643-8080-4695-9D66-0B73FA98BCB5}"/>
              </a:ext>
            </a:extLst>
          </p:cNvPr>
          <p:cNvSpPr>
            <a:spLocks noGrp="1"/>
          </p:cNvSpPr>
          <p:nvPr/>
        </p:nvSpPr>
        <p:spPr>
          <a:xfrm>
            <a:off x="775582" y="4005604"/>
            <a:ext cx="55626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5303A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275" b="0" dirty="0" err="1">
                <a:solidFill>
                  <a:srgbClr val="25303A"/>
                </a:solidFill>
                <a:latin typeface="Aptos Mono"/>
                <a:ea typeface="Aptos Mono"/>
                <a:cs typeface="Aptos Mono"/>
              </a:rPr>
              <a:t>plugin</a:t>
            </a:r>
            <a:r>
              <a:rPr sz="1275" b="0" dirty="0" err="1">
                <a:solidFill>
                  <a:srgbClr val="25303A"/>
                </a:solidFill>
                <a:latin typeface="Aptos Mono"/>
                <a:ea typeface="Aptos Mono"/>
                <a:cs typeface="Aptos Mono"/>
              </a:rPr>
              <a:t>.call.name.short</a:t>
            </a:r>
            <a:r>
              <a:rPr sz="1275" b="0" dirty="0">
                <a:solidFill>
                  <a:srgbClr val="25303A"/>
                </a:solidFill>
                <a:latin typeface="Aptos Mono"/>
                <a:ea typeface="Aptos Mono"/>
                <a:cs typeface="Aptos Mono"/>
              </a:rPr>
              <a:t> union.%%</a:t>
            </a:r>
            <a:r>
              <a:rPr sz="1275" b="0" dirty="0" err="1">
                <a:solidFill>
                  <a:srgbClr val="25303A"/>
                </a:solidFill>
                <a:latin typeface="Aptos Mono"/>
                <a:ea typeface="Aptos Mono"/>
                <a:cs typeface="Aptos Mono"/>
              </a:rPr>
              <a:t>union_prop-A|B.foo</a:t>
            </a:r>
            <a:r>
              <a:rPr sz="1275" b="0" dirty="0">
                <a:solidFill>
                  <a:srgbClr val="25303A"/>
                </a:solidFill>
                <a:latin typeface="Aptos Mono"/>
                <a:ea typeface="Aptos Mono"/>
                <a:cs typeface="Aptos Mono"/>
              </a:rPr>
              <a:t>:(union.%%</a:t>
            </a:r>
            <a:r>
              <a:rPr sz="1275" b="0" dirty="0" err="1">
                <a:solidFill>
                  <a:srgbClr val="25303A"/>
                </a:solidFill>
                <a:latin typeface="Aptos Mono"/>
                <a:ea typeface="Aptos Mono"/>
                <a:cs typeface="Aptos Mono"/>
              </a:rPr>
              <a:t>union_prop</a:t>
            </a:r>
            <a:r>
              <a:rPr sz="1275" b="0" dirty="0">
                <a:solidFill>
                  <a:srgbClr val="25303A"/>
                </a:solidFill>
                <a:latin typeface="Aptos Mono"/>
                <a:ea typeface="Aptos Mono"/>
                <a:cs typeface="Aptos Mono"/>
              </a:rPr>
              <a:t>-A|B), v1</a:t>
            </a:r>
          </a:p>
        </p:txBody>
      </p:sp>
      <p:sp>
        <p:nvSpPr>
          <p:cNvPr id="11" name="check-box">
            <a:extLst>
              <a:ext uri="{FF2B5EF4-FFF2-40B4-BE49-F238E27FC236}">
                <a16:creationId xmlns:a16="http://schemas.microsoft.com/office/drawing/2014/main" id="{068F885D-0F2C-4BD7-B0F3-5C28B40415FF}"/>
              </a:ext>
            </a:extLst>
          </p:cNvPr>
          <p:cNvSpPr>
            <a:spLocks noGrp="1"/>
          </p:cNvSpPr>
          <p:nvPr/>
        </p:nvSpPr>
        <p:spPr>
          <a:xfrm>
            <a:off x="8033657" y="2449967"/>
            <a:ext cx="171450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2AE7CF-B152-470E-AEBD-D9B665F5E545}"/>
              </a:ext>
            </a:extLst>
          </p:cNvPr>
          <p:cNvSpPr>
            <a:spLocks noGrp="1"/>
          </p:cNvSpPr>
          <p:nvPr/>
        </p:nvSpPr>
        <p:spPr>
          <a:xfrm>
            <a:off x="8033657" y="2421392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1D97CC-D370-4B75-8E31-7D78BDF88C6D}"/>
              </a:ext>
            </a:extLst>
          </p:cNvPr>
          <p:cNvSpPr>
            <a:spLocks noGrp="1"/>
          </p:cNvSpPr>
          <p:nvPr/>
        </p:nvSpPr>
        <p:spPr>
          <a:xfrm>
            <a:off x="8319407" y="2411867"/>
            <a:ext cx="3619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lang="ru-RU" sz="150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проверка, что аргументы совместимы с сигнатурой</a:t>
            </a:r>
          </a:p>
          <a:p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endParaRPr sz="1500" b="0" dirty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check-box">
            <a:extLst>
              <a:ext uri="{FF2B5EF4-FFF2-40B4-BE49-F238E27FC236}">
                <a16:creationId xmlns:a16="http://schemas.microsoft.com/office/drawing/2014/main" id="{44F74091-C01A-4123-AC19-1D3E55E479C4}"/>
              </a:ext>
            </a:extLst>
          </p:cNvPr>
          <p:cNvSpPr>
            <a:spLocks noGrp="1"/>
          </p:cNvSpPr>
          <p:nvPr/>
        </p:nvSpPr>
        <p:spPr>
          <a:xfrm>
            <a:off x="8033657" y="2983367"/>
            <a:ext cx="171450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642581-5240-4CF7-A73B-60D72C390217}"/>
              </a:ext>
            </a:extLst>
          </p:cNvPr>
          <p:cNvSpPr>
            <a:spLocks noGrp="1"/>
          </p:cNvSpPr>
          <p:nvPr/>
        </p:nvSpPr>
        <p:spPr>
          <a:xfrm>
            <a:off x="8033657" y="2954792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F35421-CB3F-4D90-BDB5-981445A62645}"/>
              </a:ext>
            </a:extLst>
          </p:cNvPr>
          <p:cNvSpPr>
            <a:spLocks noGrp="1"/>
          </p:cNvSpPr>
          <p:nvPr/>
        </p:nvSpPr>
        <p:spPr>
          <a:xfrm>
            <a:off x="8319407" y="2945267"/>
            <a:ext cx="3619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lang="ru-RU" sz="150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п</a:t>
            </a:r>
            <a:r>
              <a:rPr lang="ru-RU" sz="15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роверка модификатора доступа</a:t>
            </a:r>
            <a:endParaRPr sz="1500" b="0" dirty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check-box">
            <a:extLst>
              <a:ext uri="{FF2B5EF4-FFF2-40B4-BE49-F238E27FC236}">
                <a16:creationId xmlns:a16="http://schemas.microsoft.com/office/drawing/2014/main" id="{4465FC5F-CD2A-4B1E-9EEE-6E244A7BCDA8}"/>
              </a:ext>
            </a:extLst>
          </p:cNvPr>
          <p:cNvSpPr>
            <a:spLocks noGrp="1"/>
          </p:cNvSpPr>
          <p:nvPr/>
        </p:nvSpPr>
        <p:spPr>
          <a:xfrm>
            <a:off x="8033657" y="3516767"/>
            <a:ext cx="171450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FE1756-679D-41A1-88FA-8BBA528D2D98}"/>
              </a:ext>
            </a:extLst>
          </p:cNvPr>
          <p:cNvSpPr>
            <a:spLocks noGrp="1"/>
          </p:cNvSpPr>
          <p:nvPr/>
        </p:nvSpPr>
        <p:spPr>
          <a:xfrm>
            <a:off x="8033657" y="3488192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768F69-E7A0-4A66-A036-A18E2E0523FE}"/>
              </a:ext>
            </a:extLst>
          </p:cNvPr>
          <p:cNvSpPr>
            <a:spLocks noGrp="1"/>
          </p:cNvSpPr>
          <p:nvPr/>
        </p:nvSpPr>
        <p:spPr>
          <a:xfrm>
            <a:off x="8319407" y="3478667"/>
            <a:ext cx="3619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lang="ru-RU" sz="150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о</a:t>
            </a:r>
            <a:r>
              <a:rPr lang="ru-RU" sz="15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тсутствует пересечение с проверками </a:t>
            </a:r>
            <a:r>
              <a:rPr lang="ru-RU" sz="15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рантайма</a:t>
            </a:r>
            <a:endParaRPr sz="1500" b="0" dirty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C4AFC2-FE6E-4924-B79B-E59F50EF7295}"/>
              </a:ext>
            </a:extLst>
          </p:cNvPr>
          <p:cNvSpPr>
            <a:spLocks noGrp="1"/>
          </p:cNvSpPr>
          <p:nvPr/>
        </p:nvSpPr>
        <p:spPr>
          <a:xfrm>
            <a:off x="8319407" y="3988312"/>
            <a:ext cx="3619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endParaRPr sz="1500" b="0" dirty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tag">
            <a:extLst>
              <a:ext uri="{FF2B5EF4-FFF2-40B4-BE49-F238E27FC236}">
                <a16:creationId xmlns:a16="http://schemas.microsoft.com/office/drawing/2014/main" id="{F543A44E-A41E-4185-B5D8-3AEC48EAF9C8}"/>
              </a:ext>
            </a:extLst>
          </p:cNvPr>
          <p:cNvSpPr>
            <a:spLocks noGrp="1"/>
          </p:cNvSpPr>
          <p:nvPr/>
        </p:nvSpPr>
        <p:spPr>
          <a:xfrm>
            <a:off x="665364" y="5158468"/>
            <a:ext cx="904875" cy="304800"/>
          </a:xfrm>
          <a:prstGeom prst="rect">
            <a:avLst/>
          </a:prstGeom>
          <a:solidFill>
            <a:srgbClr val="E7F3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9034B2-36CA-4698-B2EB-8D1B82F4461D}"/>
              </a:ext>
            </a:extLst>
          </p:cNvPr>
          <p:cNvSpPr>
            <a:spLocks noGrp="1"/>
          </p:cNvSpPr>
          <p:nvPr/>
        </p:nvSpPr>
        <p:spPr>
          <a:xfrm>
            <a:off x="779664" y="5225143"/>
            <a:ext cx="6762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short</a:t>
            </a:r>
          </a:p>
        </p:txBody>
      </p:sp>
      <p:sp>
        <p:nvSpPr>
          <p:cNvPr id="31" name="tag">
            <a:extLst>
              <a:ext uri="{FF2B5EF4-FFF2-40B4-BE49-F238E27FC236}">
                <a16:creationId xmlns:a16="http://schemas.microsoft.com/office/drawing/2014/main" id="{999F5700-742B-484B-A443-63CB8C83B167}"/>
              </a:ext>
            </a:extLst>
          </p:cNvPr>
          <p:cNvSpPr>
            <a:spLocks noGrp="1"/>
          </p:cNvSpPr>
          <p:nvPr/>
        </p:nvSpPr>
        <p:spPr>
          <a:xfrm>
            <a:off x="1713114" y="5158468"/>
            <a:ext cx="904875" cy="304800"/>
          </a:xfrm>
          <a:prstGeom prst="rect">
            <a:avLst/>
          </a:prstGeom>
          <a:solidFill>
            <a:srgbClr val="F7ED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DC441D-849F-4BD9-AE13-EC272F58C112}"/>
              </a:ext>
            </a:extLst>
          </p:cNvPr>
          <p:cNvSpPr>
            <a:spLocks noGrp="1"/>
          </p:cNvSpPr>
          <p:nvPr/>
        </p:nvSpPr>
        <p:spPr>
          <a:xfrm>
            <a:off x="1827414" y="5225143"/>
            <a:ext cx="6762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A43D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43D2D"/>
                </a:solidFill>
                <a:latin typeface="Aptos"/>
                <a:ea typeface="Aptos"/>
                <a:cs typeface="Aptos"/>
              </a:rPr>
              <a:t>full</a:t>
            </a:r>
          </a:p>
        </p:txBody>
      </p:sp>
      <p:sp>
        <p:nvSpPr>
          <p:cNvPr id="33" name="tag">
            <a:extLst>
              <a:ext uri="{FF2B5EF4-FFF2-40B4-BE49-F238E27FC236}">
                <a16:creationId xmlns:a16="http://schemas.microsoft.com/office/drawing/2014/main" id="{5AA8F9B3-D0D8-4AF0-A1AA-F51F3A4EAA20}"/>
              </a:ext>
            </a:extLst>
          </p:cNvPr>
          <p:cNvSpPr>
            <a:spLocks noGrp="1"/>
          </p:cNvSpPr>
          <p:nvPr/>
        </p:nvSpPr>
        <p:spPr>
          <a:xfrm>
            <a:off x="2760864" y="5158468"/>
            <a:ext cx="1047750" cy="304800"/>
          </a:xfrm>
          <a:prstGeom prst="rect">
            <a:avLst/>
          </a:prstGeom>
          <a:solidFill>
            <a:srgbClr val="E7F3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52927B-6956-4462-9352-D3519E03645F}"/>
              </a:ext>
            </a:extLst>
          </p:cNvPr>
          <p:cNvSpPr>
            <a:spLocks noGrp="1"/>
          </p:cNvSpPr>
          <p:nvPr/>
        </p:nvSpPr>
        <p:spPr>
          <a:xfrm>
            <a:off x="2875164" y="5225143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range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D2FCDC-955E-482A-B387-8F3DC8B9B2BB}"/>
              </a:ext>
            </a:extLst>
          </p:cNvPr>
          <p:cNvSpPr>
            <a:spLocks noGrp="1"/>
          </p:cNvSpPr>
          <p:nvPr/>
        </p:nvSpPr>
        <p:spPr>
          <a:xfrm>
            <a:off x="4018164" y="513941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Все</a:t>
            </a:r>
            <a:r>
              <a:rPr sz="135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три</a:t>
            </a:r>
            <a:r>
              <a:rPr sz="135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формы</a:t>
            </a:r>
            <a:r>
              <a:rPr sz="135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сведены</a:t>
            </a:r>
            <a:r>
              <a:rPr sz="135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к</a:t>
            </a:r>
            <a:r>
              <a:rPr sz="135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общей</a:t>
            </a:r>
            <a:r>
              <a:rPr sz="135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схеме</a:t>
            </a:r>
            <a:r>
              <a:rPr sz="135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проверки</a:t>
            </a:r>
            <a:r>
              <a:rPr sz="135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вызова</a:t>
            </a:r>
            <a:r>
              <a:rPr sz="135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C049C5-3050-5BF9-0C45-0F641A3D8C0B}"/>
              </a:ext>
            </a:extLst>
          </p:cNvPr>
          <p:cNvSpPr txBox="1"/>
          <p:nvPr/>
        </p:nvSpPr>
        <p:spPr>
          <a:xfrm>
            <a:off x="661282" y="3572998"/>
            <a:ext cx="1594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//</a:t>
            </a:r>
            <a:r>
              <a:rPr lang="en-US" dirty="0" err="1"/>
              <a:t>example.asm</a:t>
            </a:r>
            <a:endParaRPr lang="en-R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006A29-2E95-1174-3788-242F3BF62867}"/>
              </a:ext>
            </a:extLst>
          </p:cNvPr>
          <p:cNvSpPr txBox="1"/>
          <p:nvPr/>
        </p:nvSpPr>
        <p:spPr>
          <a:xfrm>
            <a:off x="7810500" y="1670276"/>
            <a:ext cx="4275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0F766E"/>
                </a:solidFill>
              </a:rPr>
              <a:t>Требования к реализации алгоритма</a:t>
            </a:r>
            <a:r>
              <a:rPr lang="en-US" sz="2000" dirty="0">
                <a:solidFill>
                  <a:srgbClr val="0F766E"/>
                </a:solidFill>
              </a:rPr>
              <a:t>:</a:t>
            </a:r>
            <a:endParaRPr lang="en-RU" sz="2000" dirty="0">
              <a:solidFill>
                <a:srgbClr val="0F766E"/>
              </a:solidFill>
            </a:endParaRPr>
          </a:p>
        </p:txBody>
      </p:sp>
      <p:sp>
        <p:nvSpPr>
          <p:cNvPr id="39" name="before">
            <a:extLst>
              <a:ext uri="{FF2B5EF4-FFF2-40B4-BE49-F238E27FC236}">
                <a16:creationId xmlns:a16="http://schemas.microsoft.com/office/drawing/2014/main" id="{96A79A94-7CF1-A733-DC58-1E397DED1CAF}"/>
              </a:ext>
            </a:extLst>
          </p:cNvPr>
          <p:cNvSpPr>
            <a:spLocks noGrp="1"/>
          </p:cNvSpPr>
          <p:nvPr/>
        </p:nvSpPr>
        <p:spPr>
          <a:xfrm>
            <a:off x="665364" y="1531663"/>
            <a:ext cx="4355368" cy="1613629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205E019-436C-1DDF-8BC7-59462662CB5D}"/>
              </a:ext>
            </a:extLst>
          </p:cNvPr>
          <p:cNvSpPr txBox="1"/>
          <p:nvPr/>
        </p:nvSpPr>
        <p:spPr>
          <a:xfrm>
            <a:off x="708654" y="1896431"/>
            <a:ext cx="4312078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RU" sz="1200" b="0" dirty="0">
                <a:solidFill>
                  <a:srgbClr val="CF8E6D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RU" sz="1200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RU" sz="1200" b="0" dirty="0">
                <a:solidFill>
                  <a:srgbClr val="92D05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RU" sz="1200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RU" sz="1200" b="0" dirty="0">
                <a:solidFill>
                  <a:srgbClr val="56A8F5"/>
                </a:solidFill>
                <a:effectLst/>
                <a:latin typeface="Menlo" panose="020B0609030804020204" pitchFamily="49" charset="0"/>
              </a:rPr>
              <a:t>foo</a:t>
            </a:r>
            <a:r>
              <a:rPr lang="en-RU" sz="1200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() { </a:t>
            </a:r>
            <a:r>
              <a:rPr lang="en-RU" sz="1200" b="0" dirty="0">
                <a:solidFill>
                  <a:srgbClr val="CF8E6D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RU" sz="1200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RU" sz="1200" b="0" dirty="0">
                <a:solidFill>
                  <a:srgbClr val="2AACBB"/>
                </a:solidFill>
                <a:effectLst/>
                <a:latin typeface="Menlo" panose="020B0609030804020204" pitchFamily="49" charset="0"/>
              </a:rPr>
              <a:t>1 </a:t>
            </a:r>
            <a:r>
              <a:rPr lang="en-RU" sz="1200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} }</a:t>
            </a:r>
          </a:p>
          <a:p>
            <a:pPr>
              <a:lnSpc>
                <a:spcPts val="1350"/>
              </a:lnSpc>
              <a:buNone/>
            </a:pPr>
            <a:endParaRPr lang="en-RU" sz="1200" b="0" dirty="0">
              <a:solidFill>
                <a:srgbClr val="BCBEC4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RU" sz="1200" b="0" dirty="0">
                <a:solidFill>
                  <a:srgbClr val="CF8E6D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RU" sz="1200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RU" sz="1200" b="0" dirty="0">
                <a:solidFill>
                  <a:srgbClr val="92D050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en-RU" sz="1200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RU" sz="1200" b="0" dirty="0">
                <a:solidFill>
                  <a:srgbClr val="56A8F5"/>
                </a:solidFill>
                <a:effectLst/>
                <a:latin typeface="Menlo" panose="020B0609030804020204" pitchFamily="49" charset="0"/>
              </a:rPr>
              <a:t>foo</a:t>
            </a:r>
            <a:r>
              <a:rPr lang="en-RU" sz="1200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() { </a:t>
            </a:r>
            <a:r>
              <a:rPr lang="en-RU" sz="1200" b="0" dirty="0">
                <a:solidFill>
                  <a:srgbClr val="CF8E6D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RU" sz="1200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RU" sz="1200" b="0" dirty="0">
                <a:solidFill>
                  <a:srgbClr val="2AACBB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RU" sz="1200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 } }</a:t>
            </a:r>
          </a:p>
          <a:p>
            <a:pPr>
              <a:lnSpc>
                <a:spcPts val="1350"/>
              </a:lnSpc>
              <a:buNone/>
            </a:pPr>
            <a:endParaRPr lang="en-RU" sz="1200" b="0" dirty="0">
              <a:solidFill>
                <a:srgbClr val="BCBEC4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RU" sz="1200" b="0" dirty="0">
                <a:solidFill>
                  <a:srgbClr val="92D050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RU" sz="1200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RU" sz="1200" b="0" dirty="0">
                <a:solidFill>
                  <a:srgbClr val="56A8F5"/>
                </a:solidFill>
                <a:effectLst/>
                <a:latin typeface="Menlo" panose="020B0609030804020204" pitchFamily="49" charset="0"/>
              </a:rPr>
              <a:t>foo</a:t>
            </a:r>
            <a:r>
              <a:rPr lang="en-RU" sz="1200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RU" sz="1200" b="0" dirty="0">
                <a:solidFill>
                  <a:srgbClr val="92D050"/>
                </a:solidFill>
                <a:effectLst/>
                <a:latin typeface="Menlo" panose="020B0609030804020204" pitchFamily="49" charset="0"/>
              </a:rPr>
              <a:t>a: A|B</a:t>
            </a:r>
            <a:r>
              <a:rPr lang="en-RU" sz="1200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) {</a:t>
            </a:r>
            <a:r>
              <a:rPr lang="ru-RU" sz="1200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RU" sz="1200" b="0" dirty="0">
                <a:solidFill>
                  <a:srgbClr val="92D05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RU" sz="1200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RU" sz="1200" b="0" dirty="0">
                <a:solidFill>
                  <a:srgbClr val="56A8F5"/>
                </a:solidFill>
                <a:effectLst/>
                <a:latin typeface="Menlo" panose="020B0609030804020204" pitchFamily="49" charset="0"/>
              </a:rPr>
              <a:t>foo</a:t>
            </a:r>
            <a:r>
              <a:rPr lang="en-RU" sz="1200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ru-RU" sz="1200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RU" sz="1200" b="0" dirty="0">
                <a:solidFill>
                  <a:srgbClr val="BCBEC4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F4F565-880F-B8BB-4624-D3FB24BF20E0}"/>
              </a:ext>
            </a:extLst>
          </p:cNvPr>
          <p:cNvSpPr txBox="1"/>
          <p:nvPr/>
        </p:nvSpPr>
        <p:spPr>
          <a:xfrm>
            <a:off x="803904" y="1523125"/>
            <a:ext cx="1358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1200" dirty="0"/>
              <a:t>//example.ts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D74D4-D2EC-8001-59D3-F42DE61A46B8}"/>
              </a:ext>
            </a:extLst>
          </p:cNvPr>
          <p:cNvSpPr txBox="1"/>
          <p:nvPr/>
        </p:nvSpPr>
        <p:spPr>
          <a:xfrm>
            <a:off x="11667281" y="64933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77558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ackground">
            <a:extLst>
              <a:ext uri="{FF2B5EF4-FFF2-40B4-BE49-F238E27FC236}">
                <a16:creationId xmlns:a16="http://schemas.microsoft.com/office/drawing/2014/main" id="{D2CD1C40-FACE-46F7-B5E8-5DFD72F45A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4D025D96-5D6F-4385-9B0C-395538E474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footer-rule">
            <a:extLst>
              <a:ext uri="{FF2B5EF4-FFF2-40B4-BE49-F238E27FC236}">
                <a16:creationId xmlns:a16="http://schemas.microsoft.com/office/drawing/2014/main" id="{70D4F40D-B379-47E1-BB92-AA4780F8FF5B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6858000" cy="9525"/>
          </a:xfrm>
          <a:prstGeom prst="rect">
            <a:avLst/>
          </a:prstGeom>
          <a:solidFill>
            <a:srgbClr val="D8D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33AB2C-5FE8-4494-829C-6ACFDFC30359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bytecode verifier</a:t>
            </a:r>
          </a:p>
        </p:txBody>
      </p:sp>
      <p:sp>
        <p:nvSpPr>
          <p:cNvPr id="6" name="kicker-marker">
            <a:extLst>
              <a:ext uri="{FF2B5EF4-FFF2-40B4-BE49-F238E27FC236}">
                <a16:creationId xmlns:a16="http://schemas.microsoft.com/office/drawing/2014/main" id="{7E8B7679-86C0-4ADC-BA8B-764368977BC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28575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>
              <a:ext uri="{FF2B5EF4-FFF2-40B4-BE49-F238E27FC236}">
                <a16:creationId xmlns:a16="http://schemas.microsoft.com/office/drawing/2014/main" id="{25D2369D-AC60-4162-BFA5-DAB21526978C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lang="ru-RU" sz="975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динамическая граница</a:t>
            </a:r>
            <a:endParaRPr sz="975" b="1" dirty="0">
              <a:solidFill>
                <a:srgbClr val="0F76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002426-F8F1-444E-AB1C-9A6DBAAE4091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8953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any.* </a:t>
            </a:r>
            <a:r>
              <a:rPr lang="ru-RU" sz="270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инструкции</a:t>
            </a:r>
            <a:r>
              <a:rPr sz="270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2B0ADC-0C9D-44AA-9567-93F710687234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46170"/>
                </a:solidFill>
                <a:latin typeface="Aptos"/>
                <a:ea typeface="Aptos"/>
                <a:cs typeface="Aptos"/>
              </a:rPr>
              <a:t>Семейство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6BDC60-BA3D-42BE-9279-E10E51D3C245}"/>
              </a:ext>
            </a:extLst>
          </p:cNvPr>
          <p:cNvSpPr>
            <a:spLocks noGrp="1"/>
          </p:cNvSpPr>
          <p:nvPr/>
        </p:nvSpPr>
        <p:spPr>
          <a:xfrm>
            <a:off x="2952750" y="20764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46170"/>
                </a:solidFill>
                <a:latin typeface="Aptos"/>
                <a:ea typeface="Aptos"/>
                <a:cs typeface="Aptos"/>
              </a:rPr>
              <a:t>Инструкции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4D94EA-1117-4D00-BD06-FF3F6A3C8A94}"/>
              </a:ext>
            </a:extLst>
          </p:cNvPr>
          <p:cNvSpPr>
            <a:spLocks noGrp="1"/>
          </p:cNvSpPr>
          <p:nvPr/>
        </p:nvSpPr>
        <p:spPr>
          <a:xfrm>
            <a:off x="6667500" y="20764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46170"/>
                </a:solidFill>
                <a:latin typeface="Aptos"/>
                <a:ea typeface="Aptos"/>
                <a:cs typeface="Aptos"/>
              </a:rPr>
              <a:t>Что проверяет обработчик</a:t>
            </a:r>
          </a:p>
        </p:txBody>
      </p:sp>
      <p:sp>
        <p:nvSpPr>
          <p:cNvPr id="12" name="row-line">
            <a:extLst>
              <a:ext uri="{FF2B5EF4-FFF2-40B4-BE49-F238E27FC236}">
                <a16:creationId xmlns:a16="http://schemas.microsoft.com/office/drawing/2014/main" id="{D1F26AEB-FC9A-4FDC-89B3-A92B9802ABF0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10287000" cy="9525"/>
          </a:xfrm>
          <a:prstGeom prst="rect">
            <a:avLst/>
          </a:prstGeom>
          <a:solidFill>
            <a:srgbClr val="D8D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57259E-52EE-473F-94C2-3BF461E18A30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Вызовы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EF5079-A1D0-4B68-9427-8F44226C2975}"/>
              </a:ext>
            </a:extLst>
          </p:cNvPr>
          <p:cNvSpPr>
            <a:spLocks noGrp="1"/>
          </p:cNvSpPr>
          <p:nvPr/>
        </p:nvSpPr>
        <p:spPr>
          <a:xfrm>
            <a:off x="2952750" y="24003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any.call.*, any.call.this.*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E5564A-478A-4BC5-98F0-AEF9BEB79A75}"/>
              </a:ext>
            </a:extLst>
          </p:cNvPr>
          <p:cNvSpPr>
            <a:spLocks noGrp="1"/>
          </p:cNvSpPr>
          <p:nvPr/>
        </p:nvSpPr>
        <p:spPr>
          <a:xfrm>
            <a:off x="6667500" y="24003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46170"/>
                </a:solidFill>
                <a:latin typeface="Aptos"/>
                <a:ea typeface="Aptos"/>
                <a:cs typeface="Aptos"/>
              </a:rPr>
              <a:t>функция/метод, this, аргументы</a:t>
            </a:r>
          </a:p>
        </p:txBody>
      </p:sp>
      <p:sp>
        <p:nvSpPr>
          <p:cNvPr id="16" name="row-line">
            <a:extLst>
              <a:ext uri="{FF2B5EF4-FFF2-40B4-BE49-F238E27FC236}">
                <a16:creationId xmlns:a16="http://schemas.microsoft.com/office/drawing/2014/main" id="{7C2E2FF1-9645-4988-B664-C6B06FDBF1CC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10287000" cy="9525"/>
          </a:xfrm>
          <a:prstGeom prst="rect">
            <a:avLst/>
          </a:prstGeom>
          <a:solidFill>
            <a:srgbClr val="D8D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D2E273-5B5E-4679-B8D0-0799A95DCA96}"/>
              </a:ext>
            </a:extLst>
          </p:cNvPr>
          <p:cNvSpPr>
            <a:spLocks noGrp="1"/>
          </p:cNvSpPr>
          <p:nvPr/>
        </p:nvSpPr>
        <p:spPr>
          <a:xfrm>
            <a:off x="838200" y="312420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Конструкторы</a:t>
            </a:r>
            <a:endParaRPr sz="1575" b="1" dirty="0">
              <a:solidFill>
                <a:srgbClr val="0F76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62FADF-202D-42C9-85BC-C36C7D7DE656}"/>
              </a:ext>
            </a:extLst>
          </p:cNvPr>
          <p:cNvSpPr>
            <a:spLocks noGrp="1"/>
          </p:cNvSpPr>
          <p:nvPr/>
        </p:nvSpPr>
        <p:spPr>
          <a:xfrm>
            <a:off x="2952750" y="31242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any.call.new.*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908E68-6F45-4E4F-A701-0E2EADACD246}"/>
              </a:ext>
            </a:extLst>
          </p:cNvPr>
          <p:cNvSpPr>
            <a:spLocks noGrp="1"/>
          </p:cNvSpPr>
          <p:nvPr/>
        </p:nvSpPr>
        <p:spPr>
          <a:xfrm>
            <a:off x="6667500" y="31242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46170"/>
                </a:solidFill>
                <a:latin typeface="Aptos"/>
                <a:ea typeface="Aptos"/>
                <a:cs typeface="Aptos"/>
              </a:rPr>
              <a:t>callee и список аргументов</a:t>
            </a:r>
          </a:p>
        </p:txBody>
      </p:sp>
      <p:sp>
        <p:nvSpPr>
          <p:cNvPr id="20" name="row-line">
            <a:extLst>
              <a:ext uri="{FF2B5EF4-FFF2-40B4-BE49-F238E27FC236}">
                <a16:creationId xmlns:a16="http://schemas.microsoft.com/office/drawing/2014/main" id="{45AACD8E-BF3A-41A6-98DD-BC6822F99FF2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10287000" cy="9525"/>
          </a:xfrm>
          <a:prstGeom prst="rect">
            <a:avLst/>
          </a:prstGeom>
          <a:solidFill>
            <a:srgbClr val="D8D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7D70D8-6BC1-447D-A384-2D8B700B411A}"/>
              </a:ext>
            </a:extLst>
          </p:cNvPr>
          <p:cNvSpPr>
            <a:spLocks noGrp="1"/>
          </p:cNvSpPr>
          <p:nvPr/>
        </p:nvSpPr>
        <p:spPr>
          <a:xfrm>
            <a:off x="838200" y="384810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A43D2D"/>
                </a:solidFill>
                <a:latin typeface="Aptos"/>
                <a:ea typeface="Aptos"/>
                <a:cs typeface="Aptos"/>
              </a:defRPr>
            </a:pPr>
            <a:r>
              <a:rPr sz="1575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Свойства</a:t>
            </a:r>
            <a:endParaRPr sz="1575" b="1" dirty="0">
              <a:solidFill>
                <a:srgbClr val="0F76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B93225-B25C-41A5-8879-537A7EDCFC77}"/>
              </a:ext>
            </a:extLst>
          </p:cNvPr>
          <p:cNvSpPr>
            <a:spLocks noGrp="1"/>
          </p:cNvSpPr>
          <p:nvPr/>
        </p:nvSpPr>
        <p:spPr>
          <a:xfrm>
            <a:off x="2952750" y="38481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ld/st by name, idx, val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E6210D-2925-4965-B1E4-CE2F26C3D64A}"/>
              </a:ext>
            </a:extLst>
          </p:cNvPr>
          <p:cNvSpPr>
            <a:spLocks noGrp="1"/>
          </p:cNvSpPr>
          <p:nvPr/>
        </p:nvSpPr>
        <p:spPr>
          <a:xfrm>
            <a:off x="6667500" y="38481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46170"/>
                </a:solidFill>
                <a:latin typeface="Aptos"/>
                <a:ea typeface="Aptos"/>
                <a:cs typeface="Aptos"/>
              </a:rPr>
              <a:t>receiver, ключ, индекс f64</a:t>
            </a:r>
          </a:p>
        </p:txBody>
      </p:sp>
      <p:sp>
        <p:nvSpPr>
          <p:cNvPr id="24" name="row-line">
            <a:extLst>
              <a:ext uri="{FF2B5EF4-FFF2-40B4-BE49-F238E27FC236}">
                <a16:creationId xmlns:a16="http://schemas.microsoft.com/office/drawing/2014/main" id="{EE44070C-8E11-44EA-9A23-DC0D59844E0A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10287000" cy="9525"/>
          </a:xfrm>
          <a:prstGeom prst="rect">
            <a:avLst/>
          </a:prstGeom>
          <a:solidFill>
            <a:srgbClr val="D8D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FE5FEF-CABA-489C-BFCF-FA9DE2CF3527}"/>
              </a:ext>
            </a:extLst>
          </p:cNvPr>
          <p:cNvSpPr>
            <a:spLocks noGrp="1"/>
          </p:cNvSpPr>
          <p:nvPr/>
        </p:nvSpPr>
        <p:spPr>
          <a:xfrm>
            <a:off x="838200" y="457200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Проверка типа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457221-0AB0-4EA1-AC6A-13DCFF25FB08}"/>
              </a:ext>
            </a:extLst>
          </p:cNvPr>
          <p:cNvSpPr>
            <a:spLocks noGrp="1"/>
          </p:cNvSpPr>
          <p:nvPr/>
        </p:nvSpPr>
        <p:spPr>
          <a:xfrm>
            <a:off x="2952750" y="45720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any.isinstance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7810A6-1B2A-413C-B008-FD2CF3528749}"/>
              </a:ext>
            </a:extLst>
          </p:cNvPr>
          <p:cNvSpPr>
            <a:spLocks noGrp="1"/>
          </p:cNvSpPr>
          <p:nvPr/>
        </p:nvSpPr>
        <p:spPr>
          <a:xfrm>
            <a:off x="6667500" y="45720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46170"/>
                </a:solidFill>
                <a:latin typeface="Aptos"/>
                <a:ea typeface="Aptos"/>
                <a:cs typeface="Aptos"/>
              </a:rPr>
              <a:t>операнды и результат i32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6F3A30-3674-F045-F563-63CAE64478DD}"/>
              </a:ext>
            </a:extLst>
          </p:cNvPr>
          <p:cNvSpPr txBox="1"/>
          <p:nvPr/>
        </p:nvSpPr>
        <p:spPr>
          <a:xfrm>
            <a:off x="11667281" y="64933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41667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ackground">
            <a:extLst>
              <a:ext uri="{FF2B5EF4-FFF2-40B4-BE49-F238E27FC236}">
                <a16:creationId xmlns:a16="http://schemas.microsoft.com/office/drawing/2014/main" id="{636EE75A-78AD-4595-9F5D-FF56F97E093C}"/>
              </a:ext>
            </a:extLst>
          </p:cNvPr>
          <p:cNvSpPr>
            <a:spLocks noGrp="1"/>
          </p:cNvSpPr>
          <p:nvPr/>
        </p:nvSpPr>
        <p:spPr>
          <a:xfrm>
            <a:off x="0" y="8546"/>
            <a:ext cx="12192000" cy="6858000"/>
          </a:xfrm>
          <a:prstGeom prst="rect">
            <a:avLst/>
          </a:prstGeom>
          <a:solidFill>
            <a:srgbClr val="F7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BF206F64-0AA5-44CF-B024-9E026ED57E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footer-rule">
            <a:extLst>
              <a:ext uri="{FF2B5EF4-FFF2-40B4-BE49-F238E27FC236}">
                <a16:creationId xmlns:a16="http://schemas.microsoft.com/office/drawing/2014/main" id="{D0A63EF3-14F4-48EB-A30A-5F6A578E1ABE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6858000" cy="9525"/>
          </a:xfrm>
          <a:prstGeom prst="rect">
            <a:avLst/>
          </a:prstGeom>
          <a:solidFill>
            <a:srgbClr val="D8D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4E758B-F991-4C25-8A3B-F648E6AFDBA6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170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546170"/>
                </a:solidFill>
                <a:latin typeface="Aptos"/>
                <a:ea typeface="Aptos"/>
                <a:cs typeface="Aptos"/>
              </a:rPr>
              <a:t>bytecode verifier</a:t>
            </a:r>
          </a:p>
        </p:txBody>
      </p:sp>
      <p:sp>
        <p:nvSpPr>
          <p:cNvPr id="6" name="kicker-marker">
            <a:extLst>
              <a:ext uri="{FF2B5EF4-FFF2-40B4-BE49-F238E27FC236}">
                <a16:creationId xmlns:a16="http://schemas.microsoft.com/office/drawing/2014/main" id="{70825317-F105-459D-BD3D-FC536DAFF868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28575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>
              <a:ext uri="{FF2B5EF4-FFF2-40B4-BE49-F238E27FC236}">
                <a16:creationId xmlns:a16="http://schemas.microsoft.com/office/drawing/2014/main" id="{F89BFE1F-E204-4009-854B-C45636071DEF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РЕЗУЛЬТАТЫ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6CE886-CD53-47D1-A85D-BC5624B9553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8953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270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Множество верифицируемых инструкций </a:t>
            </a:r>
            <a:r>
              <a:rPr lang="ru-RU" sz="2700" b="1" dirty="0" err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возрасло</a:t>
            </a:r>
            <a:r>
              <a:rPr sz="270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9" name="check-box">
            <a:extLst>
              <a:ext uri="{FF2B5EF4-FFF2-40B4-BE49-F238E27FC236}">
                <a16:creationId xmlns:a16="http://schemas.microsoft.com/office/drawing/2014/main" id="{6BFE8D3B-938C-4845-84F9-7B14F31EEC3E}"/>
              </a:ext>
            </a:extLst>
          </p:cNvPr>
          <p:cNvSpPr>
            <a:spLocks noGrp="1"/>
          </p:cNvSpPr>
          <p:nvPr/>
        </p:nvSpPr>
        <p:spPr>
          <a:xfrm>
            <a:off x="895350" y="2057400"/>
            <a:ext cx="171450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22645C-282A-48B2-9BDC-A38EA0CBF8F0}"/>
              </a:ext>
            </a:extLst>
          </p:cNvPr>
          <p:cNvSpPr>
            <a:spLocks noGrp="1"/>
          </p:cNvSpPr>
          <p:nvPr/>
        </p:nvSpPr>
        <p:spPr>
          <a:xfrm>
            <a:off x="895350" y="2028825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C7F9B-41DE-4677-A585-AB92AD8C8E0F}"/>
              </a:ext>
            </a:extLst>
          </p:cNvPr>
          <p:cNvSpPr>
            <a:spLocks noGrp="1"/>
          </p:cNvSpPr>
          <p:nvPr/>
        </p:nvSpPr>
        <p:spPr>
          <a:xfrm>
            <a:off x="1181100" y="2019300"/>
            <a:ext cx="590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поддержана типовая инфраструктура runtime union</a:t>
            </a:r>
          </a:p>
        </p:txBody>
      </p:sp>
      <p:sp>
        <p:nvSpPr>
          <p:cNvPr id="12" name="check-box">
            <a:extLst>
              <a:ext uri="{FF2B5EF4-FFF2-40B4-BE49-F238E27FC236}">
                <a16:creationId xmlns:a16="http://schemas.microsoft.com/office/drawing/2014/main" id="{80D630B2-558E-413D-BBEA-F61A77761340}"/>
              </a:ext>
            </a:extLst>
          </p:cNvPr>
          <p:cNvSpPr>
            <a:spLocks noGrp="1"/>
          </p:cNvSpPr>
          <p:nvPr/>
        </p:nvSpPr>
        <p:spPr>
          <a:xfrm>
            <a:off x="895350" y="2581275"/>
            <a:ext cx="171450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F279AF-D44B-49B1-BBD6-09226B5C223F}"/>
              </a:ext>
            </a:extLst>
          </p:cNvPr>
          <p:cNvSpPr>
            <a:spLocks noGrp="1"/>
          </p:cNvSpPr>
          <p:nvPr/>
        </p:nvSpPr>
        <p:spPr>
          <a:xfrm>
            <a:off x="895350" y="2552700"/>
            <a:ext cx="171450" cy="190500"/>
          </a:xfrm>
          <a:prstGeom prst="rect">
            <a:avLst/>
          </a:prstGeom>
          <a:solidFill>
            <a:srgbClr val="0F766E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67104E-DBAB-4627-BA28-7DE3BC0038B2}"/>
              </a:ext>
            </a:extLst>
          </p:cNvPr>
          <p:cNvSpPr>
            <a:spLocks noGrp="1"/>
          </p:cNvSpPr>
          <p:nvPr/>
        </p:nvSpPr>
        <p:spPr>
          <a:xfrm>
            <a:off x="1181100" y="2543175"/>
            <a:ext cx="590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реализованы</a:t>
            </a:r>
            <a:r>
              <a:rPr sz="15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обработчики</a:t>
            </a:r>
            <a:r>
              <a:rPr sz="15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5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plugin</a:t>
            </a:r>
            <a:r>
              <a:rPr sz="15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.call.name.short</a:t>
            </a:r>
            <a:r>
              <a:rPr sz="15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/ full / range</a:t>
            </a:r>
          </a:p>
        </p:txBody>
      </p:sp>
      <p:sp>
        <p:nvSpPr>
          <p:cNvPr id="15" name="check-box">
            <a:extLst>
              <a:ext uri="{FF2B5EF4-FFF2-40B4-BE49-F238E27FC236}">
                <a16:creationId xmlns:a16="http://schemas.microsoft.com/office/drawing/2014/main" id="{AD712F81-1C62-49FD-A7A9-E9440439802D}"/>
              </a:ext>
            </a:extLst>
          </p:cNvPr>
          <p:cNvSpPr>
            <a:spLocks noGrp="1"/>
          </p:cNvSpPr>
          <p:nvPr/>
        </p:nvSpPr>
        <p:spPr>
          <a:xfrm>
            <a:off x="895350" y="3105150"/>
            <a:ext cx="171450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2198F6-D879-4633-AABD-F96D1775D23E}"/>
              </a:ext>
            </a:extLst>
          </p:cNvPr>
          <p:cNvSpPr>
            <a:spLocks noGrp="1"/>
          </p:cNvSpPr>
          <p:nvPr/>
        </p:nvSpPr>
        <p:spPr>
          <a:xfrm>
            <a:off x="895350" y="3076575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5E6FF1-DF18-48E2-9928-329CEA7432AD}"/>
              </a:ext>
            </a:extLst>
          </p:cNvPr>
          <p:cNvSpPr>
            <a:spLocks noGrp="1"/>
          </p:cNvSpPr>
          <p:nvPr/>
        </p:nvSpPr>
        <p:spPr>
          <a:xfrm>
            <a:off x="1181099" y="3067050"/>
            <a:ext cx="664572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реализованы</a:t>
            </a:r>
            <a:r>
              <a:rPr sz="15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проверки</a:t>
            </a:r>
            <a:r>
              <a:rPr sz="15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для</a:t>
            </a:r>
            <a:r>
              <a:rPr sz="15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вызовов</a:t>
            </a:r>
            <a:r>
              <a:rPr sz="15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, </a:t>
            </a:r>
            <a:r>
              <a:rPr sz="15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свойств</a:t>
            </a:r>
            <a:r>
              <a:rPr sz="15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, </a:t>
            </a:r>
            <a:r>
              <a:rPr sz="15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индексаторов</a:t>
            </a:r>
            <a:r>
              <a:rPr sz="15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и</a:t>
            </a:r>
            <a:r>
              <a:rPr sz="1500" b="0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any.isinstance</a:t>
            </a:r>
            <a:endParaRPr sz="1500" b="0" dirty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check-box">
            <a:extLst>
              <a:ext uri="{FF2B5EF4-FFF2-40B4-BE49-F238E27FC236}">
                <a16:creationId xmlns:a16="http://schemas.microsoft.com/office/drawing/2014/main" id="{0B210B0A-57AA-4042-99BF-A53AFDAF9B2A}"/>
              </a:ext>
            </a:extLst>
          </p:cNvPr>
          <p:cNvSpPr>
            <a:spLocks noGrp="1"/>
          </p:cNvSpPr>
          <p:nvPr/>
        </p:nvSpPr>
        <p:spPr>
          <a:xfrm>
            <a:off x="895350" y="3629025"/>
            <a:ext cx="171450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95381B-25C9-46D7-A46E-C8D203C5DFAE}"/>
              </a:ext>
            </a:extLst>
          </p:cNvPr>
          <p:cNvSpPr>
            <a:spLocks noGrp="1"/>
          </p:cNvSpPr>
          <p:nvPr/>
        </p:nvSpPr>
        <p:spPr>
          <a:xfrm>
            <a:off x="895350" y="3600450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C318F9-B5F8-406F-A2B0-D8BA5C92320E}"/>
              </a:ext>
            </a:extLst>
          </p:cNvPr>
          <p:cNvSpPr>
            <a:spLocks noGrp="1"/>
          </p:cNvSpPr>
          <p:nvPr/>
        </p:nvSpPr>
        <p:spPr>
          <a:xfrm>
            <a:off x="1181100" y="3590925"/>
            <a:ext cx="590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уточнены правила ISA для ряда any.* инструкций</a:t>
            </a:r>
          </a:p>
        </p:txBody>
      </p:sp>
      <p:sp>
        <p:nvSpPr>
          <p:cNvPr id="21" name="check-box">
            <a:extLst>
              <a:ext uri="{FF2B5EF4-FFF2-40B4-BE49-F238E27FC236}">
                <a16:creationId xmlns:a16="http://schemas.microsoft.com/office/drawing/2014/main" id="{32FFC3DF-2582-446C-AC3C-D3272E696E9D}"/>
              </a:ext>
            </a:extLst>
          </p:cNvPr>
          <p:cNvSpPr>
            <a:spLocks noGrp="1"/>
          </p:cNvSpPr>
          <p:nvPr/>
        </p:nvSpPr>
        <p:spPr>
          <a:xfrm>
            <a:off x="895350" y="4152900"/>
            <a:ext cx="171450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820657-60E1-4AD0-9CF2-78F414B751E1}"/>
              </a:ext>
            </a:extLst>
          </p:cNvPr>
          <p:cNvSpPr>
            <a:spLocks noGrp="1"/>
          </p:cNvSpPr>
          <p:nvPr/>
        </p:nvSpPr>
        <p:spPr>
          <a:xfrm>
            <a:off x="895350" y="4124325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C434F7-4E75-42A7-9DA5-196C8C8204B2}"/>
              </a:ext>
            </a:extLst>
          </p:cNvPr>
          <p:cNvSpPr>
            <a:spLocks noGrp="1"/>
          </p:cNvSpPr>
          <p:nvPr/>
        </p:nvSpPr>
        <p:spPr>
          <a:xfrm>
            <a:off x="1181100" y="4114800"/>
            <a:ext cx="590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добавлены положительные и отрицательные verifier-тесты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4F6BFD-F470-3ACD-1E41-CCD1154DFA8A}"/>
              </a:ext>
            </a:extLst>
          </p:cNvPr>
          <p:cNvSpPr txBox="1"/>
          <p:nvPr/>
        </p:nvSpPr>
        <p:spPr>
          <a:xfrm>
            <a:off x="11667281" y="64933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735919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672</Words>
  <Application>Microsoft Macintosh PowerPoint</Application>
  <DocSecurity>0</DocSecurity>
  <PresentationFormat>Widescreen</PresentationFormat>
  <Paragraphs>173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Aptos Mono</vt:lpstr>
      <vt:lpstr>Calibri</vt:lpstr>
      <vt:lpstr>Menlo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Max Groshev</cp:lastModifiedBy>
  <cp:revision>18</cp:revision>
  <dcterms:created xsi:type="dcterms:W3CDTF">2026-06-08T15:21:34Z</dcterms:created>
  <dcterms:modified xsi:type="dcterms:W3CDTF">2026-06-15T15:24:41Z</dcterms:modified>
</cp:coreProperties>
</file>