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2" r:id="rId4"/>
  </p:sldMasterIdLst>
  <p:sldIdLst>
    <p:sldId id="256" r:id="rId5"/>
    <p:sldId id="257" r:id="rId6"/>
    <p:sldId id="258" r:id="rId7"/>
    <p:sldId id="259" r:id="rId8"/>
    <p:sldId id="266" r:id="rId9"/>
    <p:sldId id="260" r:id="rId10"/>
    <p:sldId id="261" r:id="rId11"/>
    <p:sldId id="268" r:id="rId12"/>
    <p:sldId id="269" r:id="rId13"/>
    <p:sldId id="270" r:id="rId14"/>
    <p:sldId id="267" r:id="rId15"/>
    <p:sldId id="262" r:id="rId16"/>
    <p:sldId id="264" r:id="rId17"/>
    <p:sldId id="265" r:id="rId18"/>
  </p:sldIdLst>
  <p:sldSz cx="9144000" cy="5143500" type="screen16x9"/>
  <p:notesSz cx="7559675" cy="10691813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099"/>
    <a:srgbClr val="3D7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5"/>
    <p:restoredTop sz="94714"/>
  </p:normalViewPr>
  <p:slideViewPr>
    <p:cSldViewPr snapToGrid="0">
      <p:cViewPr varScale="1">
        <p:scale>
          <a:sx n="154" d="100"/>
          <a:sy n="154" d="100"/>
        </p:scale>
        <p:origin x="216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37.5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24575,'7'0'0,"4"0"0,13 0 0,12 4 0,18 5 0,22 8 0,14 6 0,-40-10 0,0 0 0,1 0 0,-1 0 0,36 13 0,-2 4 0,-4 2 0,-5 2 0,-4-2 0,-14-7 0,-15-7 0,-9-5 0,-5-5 0,2-4 0,1-1 0,0-1 0,-3 1 0,-5 0 0,-5 0 0,0-1 0,1-1 0,3-1 0,9 3 0,7 2 0,6 3 0,4 2 0,-6-1 0,-9-2 0,-9-2 0,-6-1 0,-2-2 0,1-1 0,-1 0 0,1 2 0,-4 2 0,1 3 0,0 1 0,0-1 0,0-2 0,-2-2 0,0-1 0,-1 1 0,1-1 0,2 1 0,0 0 0,0 1 0,0-1 0,0 1 0,-1 1 0,1-1 0,0 0 0,0-2 0,-2 0 0,-1 1 0,-1 0 0,0 0 0,1-1 0,1 0 0,-1-2 0,-1 1 0,0 1 0,2 2 0,-1 0 0,0-2 0,-1-1 0,0-2 0,2 0 0,1 1 0,1 1 0,0 1 0,-1 1 0,1-2 0,-2 0 0,0 0 0,0-1 0,0 1 0,2 0 0,0 2 0,2 3 0,1 0 0,-1 0 0,1-3 0,-4-2 0,0-2 0,-5 1 0,-1 1 0,-2 1 0,0 0 0,2-1 0,-1-1 0,-2-1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0.3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510 0 24575,'-10'0'0,"-1"0"0,-2 0 0,-4 0 0,0 0 0,-2 0 0,-2 0 0,-2 0 0,0 0 0,1 0 0,2 0 0,3 0 0,-4 0 0,-1 2 0,-4 3 0,-2 0 0,1 2 0,1 0 0,2 0 0,3 1 0,3 0 0,1 0 0,2 0 0,1-2 0,2-1 0,2 1 0,1-1 0,5-1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2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311 394 24575,'-14'-15'0,"-4"-5"0,-3-5 0,-2-4 0,1 3 0,4 2 0,2 5 0,5 6 0,1 3 0,2 3 0,2 0 0,-2 0 0,-1-2 0,0 1 0,0 1 0,2-1 0,0-2 0,0-2 0,-2-1 0,0-1 0,0 2 0,1 1 0,3 1 0,0 1 0,0 0 0,-1 1 0,1 1 0,1 0 0,1 1 0,0 1 0,0 0 0,1-1 0,-2 1 0,0 0 0,2 2 0,0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37.5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24575,'7'0'0,"4"0"0,13 0 0,12 4 0,18 5 0,22 8 0,14 6 0,-40-10 0,0 0 0,1 0 0,-1 0 0,36 13 0,-2 4 0,-4 2 0,-5 2 0,-4-2 0,-14-7 0,-15-7 0,-9-5 0,-5-5 0,2-4 0,1-1 0,0-1 0,-3 1 0,-5 0 0,-5 0 0,0-1 0,1-1 0,3-1 0,9 3 0,7 2 0,6 3 0,4 2 0,-6-1 0,-9-2 0,-9-2 0,-6-1 0,-2-2 0,1-1 0,-1 0 0,1 2 0,-4 2 0,1 3 0,0 1 0,0-1 0,0-2 0,-2-2 0,0-1 0,-1 1 0,1-1 0,2 1 0,0 0 0,0 1 0,0-1 0,0 1 0,-1 1 0,1-1 0,0 0 0,0-2 0,-2 0 0,-1 1 0,-1 0 0,0 0 0,1-1 0,1 0 0,-1-2 0,-1 1 0,0 1 0,2 2 0,-1 0 0,0-2 0,-1-1 0,0-2 0,2 0 0,1 1 0,1 1 0,0 1 0,-1 1 0,1-2 0,-2 0 0,0 0 0,0-1 0,0 1 0,2 0 0,0 2 0,2 3 0,1 0 0,-1 0 0,1-3 0,-4-2 0,0-2 0,-5 1 0,-1 1 0,-2 1 0,0 0 0,2-1 0,-1-1 0,-2-1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0.3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510 0 24575,'-10'0'0,"-1"0"0,-2 0 0,-4 0 0,0 0 0,-2 0 0,-2 0 0,-2 0 0,0 0 0,1 0 0,2 0 0,3 0 0,-4 0 0,-1 2 0,-4 3 0,-2 0 0,1 2 0,1 0 0,2 0 0,3 1 0,3 0 0,1 0 0,2 0 0,1-2 0,2-1 0,2 1 0,1-1 0,5-1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2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311 394 24575,'-14'-15'0,"-4"-5"0,-3-5 0,-2-4 0,1 3 0,4 2 0,2 5 0,5 6 0,1 3 0,2 3 0,2 0 0,-2 0 0,-1-2 0,0 1 0,0 1 0,2-1 0,0-2 0,0-2 0,-2-1 0,0-1 0,0 2 0,1 1 0,3 1 0,0 1 0,0 0 0,-1 1 0,1 1 0,1 0 0,1 1 0,0 1 0,0 0 0,1-1 0,-2 1 0,0 0 0,2 2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9.3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24575,'19'0'0,"11"1"0,9 2 0,3-1 0,11 3 0,6 2 0,5 2 0,5-1 0,-9-2 0,-5-3 0,2 0 0,1 2 0,9 1 0,3 0 0,1-1 0,-1-3 0,-8 1 0,-3 0 0,-6 5 0,-5 1 0,-4 0 0,-5 0 0,-4-2 0,-3-1 0,1 0 0,1 0 0,3-1 0,3 2 0,3-1 0,4-1 0,4 2 0,8-2 0,8 0 0,8 0 0,1 0 0,-3 1 0,-6-2 0,-9 1 0,-5-2 0,-3-1 0,-2 1 0,1 1 0,1 0 0,0 3 0,0 0 0,0 2 0,-2 0 0,-7 2 0,-8 0 0,-4-3 0,-2-1 0,4-1 0,4 3 0,0 3 0,3 3 0,-4-1 0,-3-3 0,-3-4 0,-1 0 0,-1 1 0,-2 0 0,0 2 0,-4-4 0,2 0 0,3 0 0,1 0 0,5 2 0,-1 0 0,-2-1 0,-2 0 0,-1 0 0,0 0 0,0 2 0,2-1 0,-4 0 0,-2-2 0,-5 0 0,-2 1 0,-1-2 0,1 0 0,-1-4 0,-6-1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51.2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24575,'29'0'0,"7"5"0,11 10 0,10 8 0,-1 4 0,0 1 0,1 0 0,-1-1 0,2 2 0,-8-2 0,-7-4 0,-4 0 0,-3-4 0,0-1 0,-2 0 0,-1-1 0,-4 0 0,-3-2 0,-5-3 0,-3-3 0,-3-1 0,-5-3 0,-4-2 0,-3-1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53.7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1 323 24575,'18'0'0,"3"0"0,10 0 0,10-5 0,21-10 0,16-11 0,3-4 0,-3 0 0,-21 7 0,-5 3 0,-7 2 0,-5 2 0,-2 3 0,-1 0 0,1 1 0,2-2 0,-4 0 0,-8 4 0,-6 2 0,-7 5 0,-5 0 0,-2 2 0,-3-1 0,-1-1 0,-1 0 0,2-1 0,2-2 0,1-1 0,1 0 0,-2 1 0,-2 3 0,0 1 0,-1 1 0,0-1 0,-2 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37.5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24575,'7'0'0,"4"0"0,13 0 0,12 4 0,18 5 0,22 8 0,14 6 0,-40-10 0,0 0 0,1 0 0,-1 0 0,36 13 0,-2 4 0,-4 2 0,-5 2 0,-4-2 0,-14-7 0,-15-7 0,-9-5 0,-5-5 0,2-4 0,1-1 0,0-1 0,-3 1 0,-5 0 0,-5 0 0,0-1 0,1-1 0,3-1 0,9 3 0,7 2 0,6 3 0,4 2 0,-6-1 0,-9-2 0,-9-2 0,-6-1 0,-2-2 0,1-1 0,-1 0 0,1 2 0,-4 2 0,1 3 0,0 1 0,0-1 0,0-2 0,-2-2 0,0-1 0,-1 1 0,1-1 0,2 1 0,0 0 0,0 1 0,0-1 0,0 1 0,-1 1 0,1-1 0,0 0 0,0-2 0,-2 0 0,-1 1 0,-1 0 0,0 0 0,1-1 0,1 0 0,-1-2 0,-1 1 0,0 1 0,2 2 0,-1 0 0,0-2 0,-1-1 0,0-2 0,2 0 0,1 1 0,1 1 0,0 1 0,-1 1 0,1-2 0,-2 0 0,0 0 0,0-1 0,0 1 0,2 0 0,0 2 0,2 3 0,1 0 0,-1 0 0,1-3 0,-4-2 0,0-2 0,-5 1 0,-1 1 0,-2 1 0,0 0 0,2-1 0,-1-1 0,-2-1 0,-2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0.3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510 0 24575,'-10'0'0,"-1"0"0,-2 0 0,-4 0 0,0 0 0,-2 0 0,-2 0 0,-2 0 0,0 0 0,1 0 0,2 0 0,3 0 0,-4 0 0,-1 2 0,-4 3 0,-2 0 0,1 2 0,1 0 0,2 0 0,3 1 0,3 0 0,1 0 0,2 0 0,1-2 0,2-1 0,2 1 0,1-1 0,5-1 0,1-1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2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311 394 24575,'-14'-15'0,"-4"-5"0,-3-5 0,-2-4 0,1 3 0,4 2 0,2 5 0,5 6 0,1 3 0,2 3 0,2 0 0,-2 0 0,-1-2 0,0 1 0,0 1 0,2-1 0,0-2 0,0-2 0,-2-1 0,0-1 0,0 2 0,1 1 0,3 1 0,0 1 0,0 0 0,-1 1 0,1 1 0,1 0 0,1 1 0,0 1 0,0 0 0,1-1 0,-2 1 0,0 0 0,2 2 0,0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49.3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24575,'19'0'0,"11"1"0,9 2 0,3-1 0,11 3 0,6 2 0,5 2 0,5-1 0,-9-2 0,-5-3 0,2 0 0,1 2 0,9 1 0,3 0 0,1-1 0,-1-3 0,-8 1 0,-3 0 0,-6 5 0,-5 1 0,-4 0 0,-5 0 0,-4-2 0,-3-1 0,1 0 0,1 0 0,3-1 0,3 2 0,3-1 0,4-1 0,4 2 0,8-2 0,8 0 0,8 0 0,1 0 0,-3 1 0,-6-2 0,-9 1 0,-5-2 0,-3-1 0,-2 1 0,1 1 0,1 0 0,0 3 0,0 0 0,0 2 0,-2 0 0,-7 2 0,-8 0 0,-4-3 0,-2-1 0,4-1 0,4 3 0,0 3 0,3 3 0,-4-1 0,-3-3 0,-3-4 0,-1 0 0,-1 1 0,-2 0 0,0 2 0,-4-4 0,2 0 0,3 0 0,1 0 0,5 2 0,-1 0 0,-2-1 0,-2 0 0,-1 0 0,0 0 0,0 2 0,2-1 0,-4 0 0,-2-2 0,-5 0 0,-2 1 0,-1-2 0,1 0 0,-1-4 0,-6-1 0,-2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51.2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24575,'29'0'0,"7"5"0,11 10 0,10 8 0,-1 4 0,0 1 0,1 0 0,-1-1 0,2 2 0,-8-2 0,-7-4 0,-4 0 0,-3-4 0,0-1 0,-2 0 0,-1-1 0,-4 0 0,-3-2 0,-5-3 0,-3-3 0,-3-1 0,-5-3 0,-4-2 0,-3-1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53.7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1 323 24575,'18'0'0,"3"0"0,10 0 0,10-5 0,21-10 0,16-11 0,3-4 0,-3 0 0,-21 7 0,-5 3 0,-7 2 0,-5 2 0,-2 3 0,-1 0 0,1 1 0,2-2 0,-4 0 0,-8 4 0,-6 2 0,-7 5 0,-5 0 0,-2 2 0,-3-1 0,-1-1 0,-1 0 0,2-1 0,2-2 0,1-1 0,1 0 0,-2 1 0,-2 3 0,0 1 0,-1 1 0,0-1 0,-2 1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1:59.7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2005 24575,'8'-20'0,"14"-14"0,13-12 0,10-8 0,-10 14 0,2-2 0,1 0 0,1 0 0,3-4 0,0 0 0,-1 1 0,-2 4 0,17-15 0,-6 6 0,-9 11 0,1 0 0,4-4 0,6-3 0,7-6 0,4-4 0,6-7 0,5-3 0,0 0 0,-2 4 0,-3 10 0,-8 10 0,-6 5 0,1 1 0,6-3 0,6-5 0,1 0 0,-4 0 0,-3 1 0,0 0 0,7-1 0,6-2 0,-2 0 0,-5 7 0,-12 5 0,-13 6 0,-4 5 0,-4 0 0,-4 5 0,-4 4 0,-6 2 0,-3 2 0,2 0 0,-1-1 0,0 1 0,-1 3 0,-3 1 0,-3 3 0,-1-1 0,-3 1 0,-2 1 0,0-1 0,0 1 0,2-3 0,2-2 0,0 1 0,-1 1 0,-1 1 0,-1 1 0,-1 1 0,0-1 0,-2 1 0,-1-1 0,0 0 0,-2 1 0,1 1 0,-2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2:01.6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790 1 24575,'-14'21'0,"-11"6"0,-15 11 0,-9 9 0,-4 1 0,2 2 0,2-4 0,5-4 0,2 1 0,-1 0 0,1 2 0,-4 3 0,-1 2 0,4-3 0,2-3 0,6-7 0,4-6 0,6-6 0,7-6 0,3-2 0,4-4 0,1-2 0,1-3 0,5-4 0,2-4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02:03.8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1255 18 24575,'-9'0'0,"-10"0"0,-17 0 0,-21 0 0,-19 0 0,-16 0 0,40 0 0,-2 0 0,0 0 0,-1 0 0,2 0 0,0 0 0,-47 0 0,12 0 0,4 0 0,8-3 0,9-1 0,8-1 0,10 1 0,8 2 0,7 2 0,9 0 0,12 0 0,5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2"/>
          <p:cNvSpPr/>
          <p:nvPr/>
        </p:nvSpPr>
        <p:spPr>
          <a:xfrm>
            <a:off x="0" y="0"/>
            <a:ext cx="9143280" cy="4870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" name="Google Shape;11;p2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440" cy="1663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F78013-5CDA-4719-BC63-2F51C6486C70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4;p4"/>
          <p:cNvSpPr/>
          <p:nvPr/>
        </p:nvSpPr>
        <p:spPr>
          <a:xfrm>
            <a:off x="0" y="0"/>
            <a:ext cx="9143280" cy="48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" name="Google Shape;25;p4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9" name="Google Shape;26;p4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Google Shape;27;p4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7688160" cy="226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A82F02-143E-40B0-88F7-D6C236AA6C24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2;p5"/>
          <p:cNvSpPr/>
          <p:nvPr/>
        </p:nvSpPr>
        <p:spPr>
          <a:xfrm>
            <a:off x="0" y="0"/>
            <a:ext cx="9143280" cy="48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" name="Google Shape;33;p5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16" name="Google Shape;34;p5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35;p5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780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3773520" cy="226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43640" y="2079000"/>
            <a:ext cx="3773520" cy="226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F1AC9C-D596-4C9A-AD78-8AECEA3681B8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41;p6"/>
          <p:cNvSpPr/>
          <p:nvPr/>
        </p:nvSpPr>
        <p:spPr>
          <a:xfrm>
            <a:off x="0" y="0"/>
            <a:ext cx="9143280" cy="48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" name="Google Shape;42;p6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24" name="Google Shape;43;p6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44;p6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780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58B74B-35E4-4101-BF4B-53F8E8BB35F8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48;p7"/>
          <p:cNvSpPr/>
          <p:nvPr/>
        </p:nvSpPr>
        <p:spPr>
          <a:xfrm>
            <a:off x="0" y="0"/>
            <a:ext cx="9143280" cy="48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Google Shape;49;p7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30" name="Google Shape;50;p7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Google Shape;51;p7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120" cy="138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1080" y="2781720"/>
            <a:ext cx="3300120" cy="159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7F19D3-24DC-49D9-9AA5-C8F8FD052865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62;p9"/>
          <p:cNvSpPr/>
          <p:nvPr/>
        </p:nvSpPr>
        <p:spPr>
          <a:xfrm>
            <a:off x="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" name="Google Shape;63;p9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37" name="Google Shape;64;p9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65;p9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120" cy="168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560" cy="302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F0DBC2D-9232-450B-A71A-D5B805E741D0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74;p11"/>
          <p:cNvGrpSpPr/>
          <p:nvPr/>
        </p:nvGrpSpPr>
        <p:grpSpPr>
          <a:xfrm>
            <a:off x="530280" y="4183920"/>
            <a:ext cx="1342440" cy="16920"/>
            <a:chOff x="530280" y="4183920"/>
            <a:chExt cx="1342440" cy="16920"/>
          </a:xfrm>
        </p:grpSpPr>
        <p:sp>
          <p:nvSpPr>
            <p:cNvPr id="43" name="Google Shape;75;p11"/>
            <p:cNvSpPr/>
            <p:nvPr/>
          </p:nvSpPr>
          <p:spPr>
            <a:xfrm rot="16200000">
              <a:off x="1380600" y="3708720"/>
              <a:ext cx="16920" cy="966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76;p11"/>
            <p:cNvSpPr/>
            <p:nvPr/>
          </p:nvSpPr>
          <p:spPr>
            <a:xfrm rot="16200000">
              <a:off x="1009440" y="3704760"/>
              <a:ext cx="16920" cy="97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9360" y="734040"/>
            <a:ext cx="7687800" cy="124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Raleway"/>
                <a:ea typeface="Raleway"/>
              </a:rPr>
              <a:t>xx%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29360" y="2273040"/>
            <a:ext cx="7687800" cy="157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DE8180-1DD7-4D3D-98F8-DE9E3091ADDD}" type="slidenum">
              <a:rPr lang="en-GB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18;p3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49" name="Google Shape;19;p3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20;p3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51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C44AC9-8FC9-4950-8966-9093AA332D10}" type="slidenum">
              <a:rPr lang="en-GB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6;p8"/>
          <p:cNvGrpSpPr/>
          <p:nvPr/>
        </p:nvGrpSpPr>
        <p:grpSpPr>
          <a:xfrm>
            <a:off x="530280" y="4183920"/>
            <a:ext cx="1342440" cy="16920"/>
            <a:chOff x="530280" y="4183920"/>
            <a:chExt cx="1342440" cy="16920"/>
          </a:xfrm>
        </p:grpSpPr>
        <p:sp>
          <p:nvSpPr>
            <p:cNvPr id="54" name="Google Shape;57;p8"/>
            <p:cNvSpPr/>
            <p:nvPr/>
          </p:nvSpPr>
          <p:spPr>
            <a:xfrm rot="16200000">
              <a:off x="1380600" y="3708720"/>
              <a:ext cx="16920" cy="9669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Google Shape;58;p8"/>
            <p:cNvSpPr/>
            <p:nvPr/>
          </p:nvSpPr>
          <p:spPr>
            <a:xfrm rot="16200000">
              <a:off x="1009440" y="3704760"/>
              <a:ext cx="16920" cy="975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9360" y="864360"/>
            <a:ext cx="7020360" cy="298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E21122-AD36-4749-9AA0-F6DDD1A0709A}" type="slidenum">
              <a:rPr lang="en-GB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46537C3-A8F1-4CE2-AD23-A3503C9534AF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725040" y="4372560"/>
            <a:ext cx="7696800" cy="4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ECA17C-DB55-4961-9829-493136743D21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29360" y="1273320"/>
            <a:ext cx="76881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160" cy="226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spcBef>
                <a:spcPts val="1417"/>
              </a:spcBef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endParaRPr lang="en-US" sz="14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6EC8093-75F6-4706-9EF1-0C65E0E192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24;p4"/>
          <p:cNvSpPr/>
          <p:nvPr/>
        </p:nvSpPr>
        <p:spPr>
          <a:xfrm>
            <a:off x="0" y="0"/>
            <a:ext cx="9143280" cy="487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oogle Shape;25;p4"/>
          <p:cNvGrpSpPr/>
          <p:nvPr/>
        </p:nvGrpSpPr>
        <p:grpSpPr>
          <a:xfrm>
            <a:off x="530280" y="1206000"/>
            <a:ext cx="1342440" cy="16920"/>
            <a:chOff x="530280" y="1206000"/>
            <a:chExt cx="1342440" cy="16920"/>
          </a:xfrm>
        </p:grpSpPr>
        <p:sp>
          <p:nvSpPr>
            <p:cNvPr id="63" name="Google Shape;26;p4"/>
            <p:cNvSpPr/>
            <p:nvPr/>
          </p:nvSpPr>
          <p:spPr>
            <a:xfrm rot="16200000">
              <a:off x="1380600" y="730800"/>
              <a:ext cx="16920" cy="96696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27;p4"/>
            <p:cNvSpPr/>
            <p:nvPr/>
          </p:nvSpPr>
          <p:spPr>
            <a:xfrm rot="16200000">
              <a:off x="1009440" y="726840"/>
              <a:ext cx="16920" cy="975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1440" rIns="90000" bIns="91440" anchor="ctr">
              <a:noAutofit/>
            </a:bodyPr>
            <a:lstStyle/>
            <a:p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29360" y="2079000"/>
            <a:ext cx="7688160" cy="226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535353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414EAA-D6C9-4490-839B-0ABE6727CCFE}" type="slidenum">
              <a:rPr lang="en-GB" sz="1000" b="0" u="none" strike="noStrike">
                <a:solidFill>
                  <a:schemeClr val="accent1"/>
                </a:solidFill>
                <a:effectLst/>
                <a:uFillTx/>
                <a:latin typeface="Lato"/>
                <a:ea typeface="Lato"/>
              </a:rPr>
              <a:t>‹#›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9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8.png"/><Relationship Id="rId18" Type="http://schemas.openxmlformats.org/officeDocument/2006/relationships/customXml" Target="../ink/ink18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15.xml"/><Relationship Id="rId17" Type="http://schemas.openxmlformats.org/officeDocument/2006/relationships/image" Target="../media/image10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14.xml"/><Relationship Id="rId19" Type="http://schemas.openxmlformats.org/officeDocument/2006/relationships/image" Target="../media/image11.png"/><Relationship Id="rId4" Type="http://schemas.openxmlformats.org/officeDocument/2006/relationships/customXml" Target="../ink/ink11.xml"/><Relationship Id="rId9" Type="http://schemas.openxmlformats.org/officeDocument/2006/relationships/image" Target="../media/image6.png"/><Relationship Id="rId14" Type="http://schemas.openxmlformats.org/officeDocument/2006/relationships/customXml" Target="../ink/ink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ubTitle"/>
          </p:nvPr>
        </p:nvSpPr>
        <p:spPr>
          <a:xfrm>
            <a:off x="5715000" y="3886200"/>
            <a:ext cx="388584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5000" lnSpcReduction="20000"/>
          </a:bodyPr>
          <a:lstStyle/>
          <a:p>
            <a:pPr algn="ctr">
              <a:lnSpc>
                <a:spcPct val="169999"/>
              </a:lnSpc>
            </a:pPr>
            <a:r>
              <a:rPr lang="en-US" sz="2000" b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Грошев</a:t>
            </a: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М.А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69999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МФТИ</a:t>
            </a:r>
          </a:p>
          <a:p>
            <a:pPr algn="ctr">
              <a:lnSpc>
                <a:spcPct val="169999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01.04.2026</a:t>
            </a:r>
          </a:p>
          <a:p>
            <a:pPr algn="ctr">
              <a:lnSpc>
                <a:spcPct val="100000"/>
              </a:lnSpc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16545" y="1681200"/>
            <a:ext cx="8864071" cy="17015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Верификация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инструкций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динамического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разрешения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в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статически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типизированной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виртуальной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 </a:t>
            </a:r>
            <a:r>
              <a:rPr lang="en-US" sz="2400" b="1" u="none" strike="noStrike" dirty="0" err="1">
                <a:solidFill>
                  <a:srgbClr val="3465A4"/>
                </a:solidFill>
                <a:effectLst/>
                <a:uFillTx/>
                <a:latin typeface="Arial"/>
              </a:rPr>
              <a:t>машине</a:t>
            </a:r>
            <a:r>
              <a:rPr lang="en-US" sz="2400" b="1" u="none" strike="noStrike" dirty="0">
                <a:solidFill>
                  <a:srgbClr val="3465A4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 dirty="0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2000" b="0" u="none" strike="noStrike" dirty="0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29200" y="69624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3465A4"/>
                </a:solidFill>
                <a:effectLst/>
                <a:uFillTx/>
                <a:latin typeface="Raleway"/>
                <a:ea typeface="Raleway"/>
              </a:rPr>
              <a:t>Постановка проблемы и актуальность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42496" y="1538208"/>
            <a:ext cx="5115888" cy="226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spcAft>
                <a:spcPts val="720"/>
              </a:spcAft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-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Развитие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OpenHarmony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OS</a:t>
            </a:r>
            <a:endParaRPr lang="en-US" sz="18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pPr indent="0">
              <a:lnSpc>
                <a:spcPct val="100000"/>
              </a:lnSpc>
              <a:spcAft>
                <a:spcPts val="720"/>
              </a:spcAft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    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ArkTS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—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предпочтительный</a:t>
            </a:r>
            <a:r>
              <a:rPr lang="ru-RU" sz="1000" dirty="0">
                <a:solidFill>
                  <a:srgbClr val="535353"/>
                </a:solidFill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основной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язык</a:t>
            </a:r>
            <a:r>
              <a:rPr lang="ru-RU" sz="1000" dirty="0">
                <a:solidFill>
                  <a:srgbClr val="535353"/>
                </a:solidFill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программирования</a:t>
            </a:r>
            <a:endParaRPr lang="en-US" sz="10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pPr indent="0">
              <a:lnSpc>
                <a:spcPct val="100000"/>
              </a:lnSpc>
              <a:spcAft>
                <a:spcPts val="720"/>
              </a:spcAft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    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для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разработки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приложений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в</a:t>
            </a:r>
            <a:r>
              <a:rPr lang="ru-RU" sz="1000" dirty="0">
                <a:solidFill>
                  <a:srgbClr val="535353"/>
                </a:solidFill>
                <a:latin typeface="Raleway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HarmonyOS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.</a:t>
            </a:r>
            <a:endParaRPr lang="en-US" sz="10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</p:txBody>
      </p:sp>
      <p:sp>
        <p:nvSpPr>
          <p:cNvPr id="74" name="PlaceHolder 3"/>
          <p:cNvSpPr txBox="1"/>
          <p:nvPr/>
        </p:nvSpPr>
        <p:spPr>
          <a:xfrm>
            <a:off x="242496" y="2571750"/>
            <a:ext cx="7688160" cy="2260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-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Интероп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с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динамическими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средами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Arial"/>
              <a:ea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  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Виртуальная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машина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,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рассматриваемого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яп</a:t>
            </a:r>
            <a:r>
              <a:rPr lang="ru-RU" sz="1000" dirty="0">
                <a:solidFill>
                  <a:srgbClr val="535353"/>
                </a:solidFill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подразумевает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endParaRPr lang="ru-RU" sz="1000" b="0" u="none" strike="noStrike" dirty="0">
              <a:solidFill>
                <a:srgbClr val="535353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  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активное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взаимодействие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с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ru-RU" sz="1000" dirty="0">
                <a:solidFill>
                  <a:srgbClr val="535353"/>
                </a:solidFill>
                <a:latin typeface="Arial"/>
              </a:rPr>
              <a:t>д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инамическими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0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объектами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 dirty="0">
              <a:solidFill>
                <a:srgbClr val="535353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" name="PlaceHolder 3">
            <a:extLst>
              <a:ext uri="{FF2B5EF4-FFF2-40B4-BE49-F238E27FC236}">
                <a16:creationId xmlns:a16="http://schemas.microsoft.com/office/drawing/2014/main" id="{5356C500-3DAB-BE64-E27A-8ACC84F47B7B}"/>
              </a:ext>
            </a:extLst>
          </p:cNvPr>
          <p:cNvSpPr txBox="1"/>
          <p:nvPr/>
        </p:nvSpPr>
        <p:spPr>
          <a:xfrm>
            <a:off x="242496" y="3701970"/>
            <a:ext cx="7688160" cy="2260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- Отсутствие аналогов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Arial"/>
              <a:ea typeface="Arial"/>
            </a:endParaRPr>
          </a:p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   Современные аналоги</a:t>
            </a:r>
            <a:r>
              <a:rPr lang="en-US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: JVM, ART</a:t>
            </a: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, спроектированы так, что</a:t>
            </a:r>
          </a:p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dirty="0">
                <a:solidFill>
                  <a:srgbClr val="535353"/>
                </a:solidFill>
                <a:latin typeface="Arial"/>
                <a:ea typeface="Arial"/>
              </a:rPr>
              <a:t>    в своей </a:t>
            </a:r>
            <a:r>
              <a:rPr lang="en-US" sz="1000" dirty="0">
                <a:solidFill>
                  <a:srgbClr val="535353"/>
                </a:solidFill>
                <a:latin typeface="Arial"/>
                <a:ea typeface="Arial"/>
              </a:rPr>
              <a:t>ISA </a:t>
            </a:r>
            <a:r>
              <a:rPr lang="ru-RU" sz="1000" dirty="0">
                <a:solidFill>
                  <a:srgbClr val="535353"/>
                </a:solidFill>
                <a:latin typeface="Arial"/>
                <a:ea typeface="Arial"/>
              </a:rPr>
              <a:t> не поддерживают инструкции динамического</a:t>
            </a:r>
          </a:p>
          <a:p>
            <a:pPr>
              <a:lnSpc>
                <a:spcPct val="100000"/>
              </a:lnSpc>
              <a:spcAft>
                <a:spcPts val="720"/>
              </a:spcAft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ru-RU" sz="10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    разрешения</a:t>
            </a:r>
            <a:endParaRPr lang="en-US" sz="1000" b="0" u="none" strike="noStrike" dirty="0">
              <a:solidFill>
                <a:srgbClr val="535353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77440" y="68580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Цели и задачи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2286000"/>
            <a:ext cx="3997800" cy="17355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Исследование</a:t>
            </a:r>
            <a:endParaRPr lang="en-US" sz="18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Исследование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семантики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байткодов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,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Обнаружение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множества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проверок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,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выполнение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которых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возможно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до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этапа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интерпретации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81200" y="2286000"/>
            <a:ext cx="3405600" cy="14047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US" sz="18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Разработка</a:t>
            </a:r>
            <a:endParaRPr lang="en-US" sz="1800" b="0" u="none" strike="noStrike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Raleway"/>
              </a:rPr>
              <a:t>Реализация алгоритмов верификации </a:t>
            </a:r>
            <a:endParaRPr lang="en-US" sz="1400" b="0" u="none" strike="noStrike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Raleway"/>
              </a:rPr>
              <a:t>инструкций, имеющих динамическую </a:t>
            </a:r>
            <a:endParaRPr lang="en-US" sz="1400" b="0" u="none" strike="noStrike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  <a:p>
            <a:r>
              <a:rPr lang="en-US" sz="1400" b="0" u="none" strike="noStrike">
                <a:solidFill>
                  <a:srgbClr val="535353"/>
                </a:solidFill>
                <a:effectLst/>
                <a:uFillTx/>
                <a:latin typeface="Raleway"/>
              </a:rPr>
              <a:t>семантику</a:t>
            </a:r>
            <a:endParaRPr lang="en-US" sz="1400" b="0" u="none" strike="noStrike">
              <a:solidFill>
                <a:srgbClr val="535353"/>
              </a:solidFill>
              <a:effectLst/>
              <a:uFillTx/>
              <a:latin typeface="Raleway"/>
              <a:ea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7"/>
          <p:cNvSpPr txBox="1"/>
          <p:nvPr/>
        </p:nvSpPr>
        <p:spPr>
          <a:xfrm>
            <a:off x="577440" y="68616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Методы и инструменты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7560" y="2286000"/>
            <a:ext cx="2881440" cy="1030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Язык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разработки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 –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С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++</a:t>
            </a:r>
          </a:p>
          <a:p>
            <a:pPr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Платформа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 –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ArkTS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Arial"/>
              <a:ea typeface="Arial"/>
            </a:endParaRPr>
          </a:p>
          <a:p>
            <a:pPr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Анализ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семантики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инструкций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80" name="Picture 79"/>
          <p:cNvPicPr/>
          <p:nvPr/>
        </p:nvPicPr>
        <p:blipFill>
          <a:blip r:embed="rId2"/>
          <a:stretch/>
        </p:blipFill>
        <p:spPr>
          <a:xfrm>
            <a:off x="5029200" y="1220760"/>
            <a:ext cx="3657600" cy="3656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35600" y="676656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Что</a:t>
            </a:r>
            <a:r>
              <a:rPr lang="en-US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 </a:t>
            </a:r>
            <a:r>
              <a:rPr lang="en-US" sz="24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такое</a:t>
            </a:r>
            <a:r>
              <a:rPr lang="en-US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 </a:t>
            </a:r>
            <a:r>
              <a:rPr lang="en-US" sz="24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верификатор</a:t>
            </a:r>
            <a:r>
              <a:rPr lang="en-US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?</a:t>
            </a:r>
          </a:p>
        </p:txBody>
      </p:sp>
      <p:pic>
        <p:nvPicPr>
          <p:cNvPr id="82" name="Picture 81"/>
          <p:cNvPicPr/>
          <p:nvPr/>
        </p:nvPicPr>
        <p:blipFill>
          <a:blip r:embed="rId2"/>
          <a:stretch/>
        </p:blipFill>
        <p:spPr>
          <a:xfrm>
            <a:off x="5486400" y="1143000"/>
            <a:ext cx="3222000" cy="28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82"/>
          <p:cNvSpPr txBox="1"/>
          <p:nvPr/>
        </p:nvSpPr>
        <p:spPr>
          <a:xfrm>
            <a:off x="228600" y="2514600"/>
            <a:ext cx="4867920" cy="9914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Верификатор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байт-кода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проходит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по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байт-коду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, 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HelveticaNeue"/>
            </a:endParaRP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формирует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информацию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о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состоянии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типов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HelveticaNeue"/>
            </a:endParaRP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проверяет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типы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параметров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всех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инструкций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Raleway"/>
              </a:rPr>
              <a:t>байт-кода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Raleway"/>
              </a:rPr>
              <a:t>.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Raleway"/>
              <a:ea typeface="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2086757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11480" y="663221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24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Что</a:t>
            </a:r>
            <a:r>
              <a:rPr lang="en-US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 </a:t>
            </a:r>
            <a:r>
              <a:rPr lang="en-US" sz="24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такое</a:t>
            </a:r>
            <a:r>
              <a:rPr lang="en-US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 </a:t>
            </a:r>
            <a:r>
              <a:rPr lang="en-US" sz="24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верификатор</a:t>
            </a:r>
            <a:r>
              <a:rPr lang="en-US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  <a:ea typeface="Arial"/>
              </a:rPr>
              <a:t>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CDE4082-931D-3CF9-A1AF-9D8E07B91081}"/>
              </a:ext>
            </a:extLst>
          </p:cNvPr>
          <p:cNvSpPr/>
          <p:nvPr/>
        </p:nvSpPr>
        <p:spPr>
          <a:xfrm>
            <a:off x="813816" y="2716070"/>
            <a:ext cx="2006574" cy="92583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8851C-58ED-AFC1-992E-BAC1CD10B4D9}"/>
              </a:ext>
            </a:extLst>
          </p:cNvPr>
          <p:cNvSpPr txBox="1"/>
          <p:nvPr/>
        </p:nvSpPr>
        <p:spPr>
          <a:xfrm>
            <a:off x="813815" y="2840658"/>
            <a:ext cx="2006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2A6099"/>
                </a:solidFill>
              </a:rPr>
              <a:t>Проверка графа </a:t>
            </a:r>
          </a:p>
          <a:p>
            <a:pPr algn="ctr"/>
            <a:r>
              <a:rPr lang="ru-RU" dirty="0">
                <a:solidFill>
                  <a:srgbClr val="2A6099"/>
                </a:solidFill>
              </a:rPr>
              <a:t>управления</a:t>
            </a:r>
            <a:endParaRPr lang="en-RU" dirty="0">
              <a:solidFill>
                <a:srgbClr val="2A6099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C1B401-9E85-7CC3-F18D-B33D3882C3CC}"/>
              </a:ext>
            </a:extLst>
          </p:cNvPr>
          <p:cNvSpPr/>
          <p:nvPr/>
        </p:nvSpPr>
        <p:spPr>
          <a:xfrm>
            <a:off x="3568712" y="2731232"/>
            <a:ext cx="2051331" cy="88522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732E74-9731-CA33-993A-94C8830F5F56}"/>
              </a:ext>
            </a:extLst>
          </p:cNvPr>
          <p:cNvSpPr/>
          <p:nvPr/>
        </p:nvSpPr>
        <p:spPr>
          <a:xfrm>
            <a:off x="6368365" y="2716070"/>
            <a:ext cx="1961819" cy="91409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C12BC-97B6-0589-847C-7D5621DCBE7E}"/>
              </a:ext>
            </a:extLst>
          </p:cNvPr>
          <p:cNvSpPr txBox="1"/>
          <p:nvPr/>
        </p:nvSpPr>
        <p:spPr>
          <a:xfrm>
            <a:off x="3568712" y="2840657"/>
            <a:ext cx="2096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2A6099"/>
                </a:solidFill>
              </a:rPr>
              <a:t>Разрешение </a:t>
            </a:r>
          </a:p>
          <a:p>
            <a:pPr algn="ctr"/>
            <a:r>
              <a:rPr lang="ru-RU" dirty="0">
                <a:solidFill>
                  <a:srgbClr val="2A6099"/>
                </a:solidFill>
              </a:rPr>
              <a:t>идентификаторов</a:t>
            </a:r>
            <a:endParaRPr lang="en-RU" dirty="0">
              <a:solidFill>
                <a:srgbClr val="2A609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FC224-2566-EF65-4CCA-339592AD6791}"/>
              </a:ext>
            </a:extLst>
          </p:cNvPr>
          <p:cNvSpPr txBox="1"/>
          <p:nvPr/>
        </p:nvSpPr>
        <p:spPr>
          <a:xfrm>
            <a:off x="6438204" y="2828386"/>
            <a:ext cx="1790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2A6099"/>
                </a:solidFill>
              </a:rPr>
              <a:t>Абстрактная </a:t>
            </a:r>
          </a:p>
          <a:p>
            <a:pPr algn="ctr"/>
            <a:r>
              <a:rPr lang="ru-RU" dirty="0">
                <a:solidFill>
                  <a:srgbClr val="2A6099"/>
                </a:solidFill>
              </a:rPr>
              <a:t>интерпретация</a:t>
            </a:r>
            <a:endParaRPr lang="en-RU" dirty="0">
              <a:solidFill>
                <a:srgbClr val="2A6099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DC8882-7BD7-1295-6CA9-3F102E8523CB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820390" y="3163823"/>
            <a:ext cx="748322" cy="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2258BE-60F7-C67A-0387-DB2720861B6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620043" y="3168885"/>
            <a:ext cx="748322" cy="4234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17FD08-C75B-2180-DBD0-62D6501C880F}"/>
              </a:ext>
            </a:extLst>
          </p:cNvPr>
          <p:cNvSpPr txBox="1"/>
          <p:nvPr/>
        </p:nvSpPr>
        <p:spPr>
          <a:xfrm>
            <a:off x="228600" y="1728856"/>
            <a:ext cx="352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2A6099"/>
                </a:solidFill>
              </a:rPr>
              <a:t>Метод – единица верификации</a:t>
            </a:r>
            <a:endParaRPr lang="en-RU" dirty="0">
              <a:solidFill>
                <a:srgbClr val="2A6099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40E616-52A9-32AC-DA7F-B6B98312AFB9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817102" y="2105769"/>
            <a:ext cx="1" cy="610301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296056D-299A-F64D-36F8-9EC73A2A2510}"/>
              </a:ext>
            </a:extLst>
          </p:cNvPr>
          <p:cNvSpPr/>
          <p:nvPr/>
        </p:nvSpPr>
        <p:spPr>
          <a:xfrm>
            <a:off x="228600" y="1728856"/>
            <a:ext cx="3529236" cy="36933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1440" y="786900"/>
            <a:ext cx="7688160" cy="33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А</a:t>
            </a:r>
            <a:r>
              <a:rPr lang="ru-RU" sz="2400" b="1" dirty="0">
                <a:solidFill>
                  <a:srgbClr val="2A6099"/>
                </a:solidFill>
                <a:latin typeface="Raleway"/>
              </a:rPr>
              <a:t>бстрактная интерпретация</a:t>
            </a:r>
            <a:endParaRPr lang="en-US" sz="2400" b="0" u="none" strike="noStrike" dirty="0">
              <a:solidFill>
                <a:srgbClr val="2A6099"/>
              </a:solidFill>
              <a:effectLst/>
              <a:uFillTx/>
              <a:latin typeface="Raleway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144502" y="1986930"/>
            <a:ext cx="1483396" cy="13835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ru-RU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sta.obj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ldai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1</a:t>
            </a: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jeqz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label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lda.obj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v2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sta.obj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v1</a:t>
            </a:r>
            <a:endParaRPr lang="en-US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label:</a:t>
            </a:r>
            <a:endParaRPr lang="ru-RU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104722" y="1748152"/>
            <a:ext cx="1946145" cy="1951012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1440" y="786900"/>
            <a:ext cx="7688160" cy="33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А</a:t>
            </a:r>
            <a:r>
              <a:rPr lang="ru-RU" sz="2400" b="1" dirty="0">
                <a:solidFill>
                  <a:srgbClr val="2A6099"/>
                </a:solidFill>
                <a:latin typeface="Raleway"/>
              </a:rPr>
              <a:t>бстрактная интерпретация</a:t>
            </a:r>
            <a:endParaRPr lang="en-US" sz="2400" b="0" u="none" strike="noStrike" dirty="0">
              <a:solidFill>
                <a:srgbClr val="2A6099"/>
              </a:solidFill>
              <a:effectLst/>
              <a:uFillTx/>
              <a:latin typeface="Raleway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144502" y="1986930"/>
            <a:ext cx="1483396" cy="13835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ru-RU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sta.obj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ldai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1</a:t>
            </a: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jeqz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label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lda.obj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v2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sta.obj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v1</a:t>
            </a:r>
            <a:endParaRPr lang="en-US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label:</a:t>
            </a:r>
            <a:endParaRPr lang="ru-RU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104722" y="1748152"/>
            <a:ext cx="1946145" cy="1951012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5D71A-4381-7B9B-06A3-D5FCE84998A7}"/>
              </a:ext>
            </a:extLst>
          </p:cNvPr>
          <p:cNvSpPr txBox="1"/>
          <p:nvPr/>
        </p:nvSpPr>
        <p:spPr>
          <a:xfrm>
            <a:off x="1192567" y="1892661"/>
            <a:ext cx="1534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Verifier state:</a:t>
            </a: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  - class A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V2 –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  - i32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22DBA4-D129-5261-C157-BBDF7EED3F96}"/>
              </a:ext>
            </a:extLst>
          </p:cNvPr>
          <p:cNvGrpSpPr/>
          <p:nvPr/>
        </p:nvGrpSpPr>
        <p:grpSpPr>
          <a:xfrm>
            <a:off x="2718196" y="2278080"/>
            <a:ext cx="845280" cy="266760"/>
            <a:chOff x="2718196" y="2278080"/>
            <a:chExt cx="84528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40A9DBE-D6A6-4556-D43B-E507AEAFB956}"/>
                    </a:ext>
                  </a:extLst>
                </p14:cNvPr>
                <p14:cNvContentPartPr/>
                <p14:nvPr/>
              </p14:nvContentPartPr>
              <p14:xfrm>
                <a:off x="2718196" y="2278080"/>
                <a:ext cx="829440" cy="21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40A9DBE-D6A6-4556-D43B-E507AEAFB9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12076" y="2271960"/>
                  <a:ext cx="841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ECC104E-31B8-BA44-C062-6D27F6D34EAE}"/>
                    </a:ext>
                  </a:extLst>
                </p14:cNvPr>
                <p14:cNvContentPartPr/>
                <p14:nvPr/>
              </p14:nvContentPartPr>
              <p14:xfrm>
                <a:off x="3357916" y="2511000"/>
                <a:ext cx="183960" cy="33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ECC104E-31B8-BA44-C062-6D27F6D34E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1796" y="2504944"/>
                  <a:ext cx="196200" cy="45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757832-0F5D-5529-EC01-DB9656CB35FF}"/>
                    </a:ext>
                  </a:extLst>
                </p14:cNvPr>
                <p14:cNvContentPartPr/>
                <p14:nvPr/>
              </p14:nvContentPartPr>
              <p14:xfrm>
                <a:off x="3451156" y="2352960"/>
                <a:ext cx="112320" cy="14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757832-0F5D-5529-EC01-DB9656CB35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45036" y="2346840"/>
                  <a:ext cx="124560" cy="154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E72A8E-3DB9-0BB4-03D8-246F64CE2537}"/>
              </a:ext>
            </a:extLst>
          </p:cNvPr>
          <p:cNvSpPr/>
          <p:nvPr/>
        </p:nvSpPr>
        <p:spPr>
          <a:xfrm>
            <a:off x="1054096" y="1811699"/>
            <a:ext cx="1654797" cy="1010095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458355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1440" y="786900"/>
            <a:ext cx="7688160" cy="33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А</a:t>
            </a:r>
            <a:r>
              <a:rPr lang="ru-RU" sz="2400" b="1" dirty="0">
                <a:solidFill>
                  <a:srgbClr val="2A6099"/>
                </a:solidFill>
                <a:latin typeface="Raleway"/>
              </a:rPr>
              <a:t>бстрактная интерпретация</a:t>
            </a:r>
            <a:endParaRPr lang="en-US" sz="2400" b="0" u="none" strike="noStrike" dirty="0">
              <a:solidFill>
                <a:srgbClr val="2A6099"/>
              </a:solidFill>
              <a:effectLst/>
              <a:uFillTx/>
              <a:latin typeface="Raleway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144502" y="1986930"/>
            <a:ext cx="1483396" cy="13835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ru-RU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sta.obj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ldai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1</a:t>
            </a: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jeqz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label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lda.obj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v2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sta.obj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v1</a:t>
            </a:r>
            <a:endParaRPr lang="en-US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label:</a:t>
            </a:r>
            <a:endParaRPr lang="ru-RU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104722" y="1748152"/>
            <a:ext cx="1946145" cy="1951012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14A14-84F4-3F27-FAD9-B32A70AB4813}"/>
              </a:ext>
            </a:extLst>
          </p:cNvPr>
          <p:cNvSpPr txBox="1"/>
          <p:nvPr/>
        </p:nvSpPr>
        <p:spPr>
          <a:xfrm>
            <a:off x="5879520" y="2826308"/>
            <a:ext cx="1587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Verifier state:</a:t>
            </a: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  -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V2 –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  - i32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5D71A-4381-7B9B-06A3-D5FCE84998A7}"/>
              </a:ext>
            </a:extLst>
          </p:cNvPr>
          <p:cNvSpPr txBox="1"/>
          <p:nvPr/>
        </p:nvSpPr>
        <p:spPr>
          <a:xfrm>
            <a:off x="1192567" y="1892661"/>
            <a:ext cx="1534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Verifier state:</a:t>
            </a: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  - class A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V2 –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  - i32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22DBA4-D129-5261-C157-BBDF7EED3F96}"/>
              </a:ext>
            </a:extLst>
          </p:cNvPr>
          <p:cNvGrpSpPr/>
          <p:nvPr/>
        </p:nvGrpSpPr>
        <p:grpSpPr>
          <a:xfrm>
            <a:off x="2718196" y="2278080"/>
            <a:ext cx="845280" cy="266760"/>
            <a:chOff x="2718196" y="2278080"/>
            <a:chExt cx="84528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40A9DBE-D6A6-4556-D43B-E507AEAFB956}"/>
                    </a:ext>
                  </a:extLst>
                </p14:cNvPr>
                <p14:cNvContentPartPr/>
                <p14:nvPr/>
              </p14:nvContentPartPr>
              <p14:xfrm>
                <a:off x="2718196" y="2278080"/>
                <a:ext cx="829440" cy="21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40A9DBE-D6A6-4556-D43B-E507AEAFB9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12076" y="2271960"/>
                  <a:ext cx="841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ECC104E-31B8-BA44-C062-6D27F6D34EAE}"/>
                    </a:ext>
                  </a:extLst>
                </p14:cNvPr>
                <p14:cNvContentPartPr/>
                <p14:nvPr/>
              </p14:nvContentPartPr>
              <p14:xfrm>
                <a:off x="3357916" y="2511000"/>
                <a:ext cx="183960" cy="33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ECC104E-31B8-BA44-C062-6D27F6D34E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1796" y="2504944"/>
                  <a:ext cx="196200" cy="45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757832-0F5D-5529-EC01-DB9656CB35FF}"/>
                    </a:ext>
                  </a:extLst>
                </p14:cNvPr>
                <p14:cNvContentPartPr/>
                <p14:nvPr/>
              </p14:nvContentPartPr>
              <p14:xfrm>
                <a:off x="3451156" y="2352960"/>
                <a:ext cx="112320" cy="14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757832-0F5D-5529-EC01-DB9656CB35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45036" y="2346840"/>
                  <a:ext cx="12456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8C7BB5-7B79-421A-7F5D-6D2FA0159279}"/>
              </a:ext>
            </a:extLst>
          </p:cNvPr>
          <p:cNvGrpSpPr/>
          <p:nvPr/>
        </p:nvGrpSpPr>
        <p:grpSpPr>
          <a:xfrm>
            <a:off x="4571476" y="2771280"/>
            <a:ext cx="1234440" cy="297360"/>
            <a:chOff x="4571476" y="2771280"/>
            <a:chExt cx="12344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D3EC27-0280-F1E3-13E3-4F215037352A}"/>
                    </a:ext>
                  </a:extLst>
                </p14:cNvPr>
                <p14:cNvContentPartPr/>
                <p14:nvPr/>
              </p14:nvContentPartPr>
              <p14:xfrm>
                <a:off x="4595236" y="2881800"/>
                <a:ext cx="1210680" cy="18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D3EC27-0280-F1E3-13E3-4F21503735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89116" y="2875668"/>
                  <a:ext cx="1222920" cy="19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C66BFA-19A3-F7D2-8BAB-D36DC6D0D33F}"/>
                    </a:ext>
                  </a:extLst>
                </p14:cNvPr>
                <p14:cNvContentPartPr/>
                <p14:nvPr/>
              </p14:nvContentPartPr>
              <p14:xfrm>
                <a:off x="4589836" y="2887920"/>
                <a:ext cx="306720" cy="143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C66BFA-19A3-F7D2-8BAB-D36DC6D0D3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83716" y="2881800"/>
                  <a:ext cx="318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39BE00-C1A7-6BB2-6EAA-94AB9503D259}"/>
                    </a:ext>
                  </a:extLst>
                </p14:cNvPr>
                <p14:cNvContentPartPr/>
                <p14:nvPr/>
              </p14:nvContentPartPr>
              <p14:xfrm>
                <a:off x="4571476" y="2771280"/>
                <a:ext cx="340920" cy="11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39BE00-C1A7-6BB2-6EAA-94AB9503D2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65356" y="2765160"/>
                  <a:ext cx="353160" cy="128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E72A8E-3DB9-0BB4-03D8-246F64CE2537}"/>
              </a:ext>
            </a:extLst>
          </p:cNvPr>
          <p:cNvSpPr/>
          <p:nvPr/>
        </p:nvSpPr>
        <p:spPr>
          <a:xfrm>
            <a:off x="1054096" y="1811699"/>
            <a:ext cx="1654797" cy="1010095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A29BD6-BCE0-D5C6-3B30-617658D75196}"/>
              </a:ext>
            </a:extLst>
          </p:cNvPr>
          <p:cNvSpPr/>
          <p:nvPr/>
        </p:nvSpPr>
        <p:spPr>
          <a:xfrm>
            <a:off x="5829676" y="2821795"/>
            <a:ext cx="1834660" cy="877369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333845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1440" y="786900"/>
            <a:ext cx="7688160" cy="33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24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А</a:t>
            </a:r>
            <a:r>
              <a:rPr lang="ru-RU" sz="2400" b="1" dirty="0">
                <a:solidFill>
                  <a:srgbClr val="2A6099"/>
                </a:solidFill>
                <a:latin typeface="Raleway"/>
              </a:rPr>
              <a:t>бстрактная интерпретация</a:t>
            </a:r>
            <a:endParaRPr lang="en-US" sz="2400" b="0" u="none" strike="noStrike" dirty="0">
              <a:solidFill>
                <a:srgbClr val="2A6099"/>
              </a:solidFill>
              <a:effectLst/>
              <a:uFillTx/>
              <a:latin typeface="Raleway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144502" y="1986930"/>
            <a:ext cx="1483396" cy="13835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ru-RU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sta.obj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ldai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1</a:t>
            </a: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jeqz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label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lda.obj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v2</a:t>
            </a: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</a:t>
            </a:r>
            <a:r>
              <a:rPr lang="en-US" sz="1200" b="1" dirty="0" err="1">
                <a:solidFill>
                  <a:srgbClr val="262626"/>
                </a:solidFill>
                <a:latin typeface="Courier New"/>
              </a:rPr>
              <a:t>sta.obj</a:t>
            </a:r>
            <a:r>
              <a:rPr lang="en-US" sz="1200" b="1" dirty="0">
                <a:solidFill>
                  <a:srgbClr val="262626"/>
                </a:solidFill>
                <a:latin typeface="Courier New"/>
              </a:rPr>
              <a:t> v1</a:t>
            </a:r>
            <a:endParaRPr lang="en-US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dirty="0">
                <a:solidFill>
                  <a:srgbClr val="262626"/>
                </a:solidFill>
                <a:latin typeface="Courier New"/>
              </a:rPr>
              <a:t>    label:</a:t>
            </a:r>
            <a:endParaRPr lang="ru-RU" sz="1200" b="1" u="none" strike="noStrike" dirty="0">
              <a:solidFill>
                <a:srgbClr val="262626"/>
              </a:solidFill>
              <a:effectLst/>
              <a:uFillTx/>
              <a:latin typeface="Courier New"/>
            </a:endParaRPr>
          </a:p>
          <a:p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lda.obj</a:t>
            </a:r>
            <a:r>
              <a:rPr lang="en-US" sz="12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200" b="0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104722" y="1748152"/>
            <a:ext cx="1946145" cy="1951012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14A14-84F4-3F27-FAD9-B32A70AB4813}"/>
              </a:ext>
            </a:extLst>
          </p:cNvPr>
          <p:cNvSpPr txBox="1"/>
          <p:nvPr/>
        </p:nvSpPr>
        <p:spPr>
          <a:xfrm>
            <a:off x="5879520" y="2826308"/>
            <a:ext cx="1587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Verifier state:</a:t>
            </a: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  -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V2 –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  - i32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CC29B-A756-750E-5AFB-4764758BE9D3}"/>
              </a:ext>
            </a:extLst>
          </p:cNvPr>
          <p:cNvSpPr txBox="1"/>
          <p:nvPr/>
        </p:nvSpPr>
        <p:spPr>
          <a:xfrm>
            <a:off x="1192567" y="4101058"/>
            <a:ext cx="23723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Verifier state:</a:t>
            </a: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  - (std.core.String | class A)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V2 – std.core.String</a:t>
            </a:r>
          </a:p>
          <a:p>
            <a:r>
              <a:rPr lang="en-GB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Acc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(std.core.String | class A)</a:t>
            </a:r>
          </a:p>
          <a:p>
            <a:endParaRPr lang="en-RU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RU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5D71A-4381-7B9B-06A3-D5FCE84998A7}"/>
              </a:ext>
            </a:extLst>
          </p:cNvPr>
          <p:cNvSpPr txBox="1"/>
          <p:nvPr/>
        </p:nvSpPr>
        <p:spPr>
          <a:xfrm>
            <a:off x="1192567" y="1892661"/>
            <a:ext cx="1534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Verifier state:</a:t>
            </a:r>
          </a:p>
          <a:p>
            <a:r>
              <a:rPr lang="en-GB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</a:t>
            </a:r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   - class A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V2 – std.core.String</a:t>
            </a:r>
          </a:p>
          <a:p>
            <a:r>
              <a:rPr lang="en-RU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Acc  - i32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22DBA4-D129-5261-C157-BBDF7EED3F96}"/>
              </a:ext>
            </a:extLst>
          </p:cNvPr>
          <p:cNvGrpSpPr/>
          <p:nvPr/>
        </p:nvGrpSpPr>
        <p:grpSpPr>
          <a:xfrm>
            <a:off x="2718196" y="2278080"/>
            <a:ext cx="845280" cy="266760"/>
            <a:chOff x="2718196" y="2278080"/>
            <a:chExt cx="84528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40A9DBE-D6A6-4556-D43B-E507AEAFB956}"/>
                    </a:ext>
                  </a:extLst>
                </p14:cNvPr>
                <p14:cNvContentPartPr/>
                <p14:nvPr/>
              </p14:nvContentPartPr>
              <p14:xfrm>
                <a:off x="2718196" y="2278080"/>
                <a:ext cx="829440" cy="21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40A9DBE-D6A6-4556-D43B-E507AEAFB9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12076" y="2271960"/>
                  <a:ext cx="841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ECC104E-31B8-BA44-C062-6D27F6D34EAE}"/>
                    </a:ext>
                  </a:extLst>
                </p14:cNvPr>
                <p14:cNvContentPartPr/>
                <p14:nvPr/>
              </p14:nvContentPartPr>
              <p14:xfrm>
                <a:off x="3357916" y="2511000"/>
                <a:ext cx="183960" cy="33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ECC104E-31B8-BA44-C062-6D27F6D34E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1796" y="2504944"/>
                  <a:ext cx="196200" cy="45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757832-0F5D-5529-EC01-DB9656CB35FF}"/>
                    </a:ext>
                  </a:extLst>
                </p14:cNvPr>
                <p14:cNvContentPartPr/>
                <p14:nvPr/>
              </p14:nvContentPartPr>
              <p14:xfrm>
                <a:off x="3451156" y="2352960"/>
                <a:ext cx="112320" cy="14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757832-0F5D-5529-EC01-DB9656CB35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45036" y="2346840"/>
                  <a:ext cx="12456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8C7BB5-7B79-421A-7F5D-6D2FA0159279}"/>
              </a:ext>
            </a:extLst>
          </p:cNvPr>
          <p:cNvGrpSpPr/>
          <p:nvPr/>
        </p:nvGrpSpPr>
        <p:grpSpPr>
          <a:xfrm>
            <a:off x="4571476" y="2771280"/>
            <a:ext cx="1234440" cy="297360"/>
            <a:chOff x="4571476" y="2771280"/>
            <a:chExt cx="123444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D3EC27-0280-F1E3-13E3-4F215037352A}"/>
                    </a:ext>
                  </a:extLst>
                </p14:cNvPr>
                <p14:cNvContentPartPr/>
                <p14:nvPr/>
              </p14:nvContentPartPr>
              <p14:xfrm>
                <a:off x="4595236" y="2881800"/>
                <a:ext cx="1210680" cy="18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D3EC27-0280-F1E3-13E3-4F21503735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89116" y="2875668"/>
                  <a:ext cx="1222920" cy="199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C66BFA-19A3-F7D2-8BAB-D36DC6D0D33F}"/>
                    </a:ext>
                  </a:extLst>
                </p14:cNvPr>
                <p14:cNvContentPartPr/>
                <p14:nvPr/>
              </p14:nvContentPartPr>
              <p14:xfrm>
                <a:off x="4589836" y="2887920"/>
                <a:ext cx="306720" cy="143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C66BFA-19A3-F7D2-8BAB-D36DC6D0D3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83716" y="2881800"/>
                  <a:ext cx="318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39BE00-C1A7-6BB2-6EAA-94AB9503D259}"/>
                    </a:ext>
                  </a:extLst>
                </p14:cNvPr>
                <p14:cNvContentPartPr/>
                <p14:nvPr/>
              </p14:nvContentPartPr>
              <p14:xfrm>
                <a:off x="4571476" y="2771280"/>
                <a:ext cx="340920" cy="11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39BE00-C1A7-6BB2-6EAA-94AB9503D2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65356" y="2765160"/>
                  <a:ext cx="35316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0ED3CB-766B-0159-0AED-A28CF9A01B24}"/>
              </a:ext>
            </a:extLst>
          </p:cNvPr>
          <p:cNvGrpSpPr/>
          <p:nvPr/>
        </p:nvGrpSpPr>
        <p:grpSpPr>
          <a:xfrm>
            <a:off x="2559796" y="3327120"/>
            <a:ext cx="914760" cy="726480"/>
            <a:chOff x="2559796" y="3327120"/>
            <a:chExt cx="914760" cy="72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FA25CA-8853-A349-7ACA-2C6ACDA47FD3}"/>
                    </a:ext>
                  </a:extLst>
                </p14:cNvPr>
                <p14:cNvContentPartPr/>
                <p14:nvPr/>
              </p14:nvContentPartPr>
              <p14:xfrm>
                <a:off x="2559796" y="3331800"/>
                <a:ext cx="908280" cy="72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FA25CA-8853-A349-7ACA-2C6ACDA47F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53676" y="3325680"/>
                  <a:ext cx="92052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4597AD-F97E-7548-CA55-8211A8B0C2B6}"/>
                    </a:ext>
                  </a:extLst>
                </p14:cNvPr>
                <p14:cNvContentPartPr/>
                <p14:nvPr/>
              </p14:nvContentPartPr>
              <p14:xfrm>
                <a:off x="3188716" y="3347280"/>
                <a:ext cx="284760" cy="290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4597AD-F97E-7548-CA55-8211A8B0C2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82588" y="3341152"/>
                  <a:ext cx="297015" cy="302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7B5829-1B84-9462-F092-F54F18670139}"/>
                    </a:ext>
                  </a:extLst>
                </p14:cNvPr>
                <p14:cNvContentPartPr/>
                <p14:nvPr/>
              </p14:nvContentPartPr>
              <p14:xfrm>
                <a:off x="3022396" y="3327120"/>
                <a:ext cx="452160" cy="6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7B5829-1B84-9462-F092-F54F186701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16271" y="3321322"/>
                  <a:ext cx="464410" cy="18076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EE72A8E-3DB9-0BB4-03D8-246F64CE2537}"/>
              </a:ext>
            </a:extLst>
          </p:cNvPr>
          <p:cNvSpPr/>
          <p:nvPr/>
        </p:nvSpPr>
        <p:spPr>
          <a:xfrm>
            <a:off x="1054096" y="1811699"/>
            <a:ext cx="1654797" cy="1010095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BB8E88-6003-5E07-B481-51207828E539}"/>
              </a:ext>
            </a:extLst>
          </p:cNvPr>
          <p:cNvSpPr/>
          <p:nvPr/>
        </p:nvSpPr>
        <p:spPr>
          <a:xfrm>
            <a:off x="1198357" y="4084582"/>
            <a:ext cx="2276199" cy="893845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A29BD6-BCE0-D5C6-3B30-617658D75196}"/>
              </a:ext>
            </a:extLst>
          </p:cNvPr>
          <p:cNvSpPr/>
          <p:nvPr/>
        </p:nvSpPr>
        <p:spPr>
          <a:xfrm>
            <a:off x="5829676" y="2821795"/>
            <a:ext cx="1834660" cy="877369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2164197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41440" y="68580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“any” инструкции </a:t>
            </a:r>
            <a:r>
              <a:rPr lang="en-US" sz="2400" b="0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72720" y="1272960"/>
            <a:ext cx="2756880" cy="16988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US" sz="1200" b="1" u="none" strike="noStrike">
                <a:solidFill>
                  <a:srgbClr val="468A1A"/>
                </a:solidFill>
                <a:effectLst/>
                <a:uFillTx/>
                <a:latin typeface="HelveticaNeue"/>
              </a:rPr>
              <a:t>// dynamic.js</a:t>
            </a:r>
            <a:endParaRPr lang="en-US" sz="1200" b="1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r>
              <a:rPr lang="en-US" sz="12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class A { prop = 1}</a:t>
            </a:r>
          </a:p>
          <a:p>
            <a:r>
              <a:rPr lang="en-US" sz="12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function foo() { return new A() }</a:t>
            </a:r>
          </a:p>
          <a:p>
            <a:endParaRPr lang="en-US" sz="1200" b="1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r>
              <a:rPr lang="en-US" sz="1200" b="1" u="none" strike="noStrike">
                <a:solidFill>
                  <a:srgbClr val="468A1A"/>
                </a:solidFill>
                <a:effectLst/>
                <a:uFillTx/>
                <a:latin typeface="HelveticaNeue"/>
              </a:rPr>
              <a:t>// static.ets</a:t>
            </a:r>
            <a:endParaRPr lang="en-US" sz="1200" b="1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r>
              <a:rPr lang="en-US" sz="12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import { A, foo } from "./dynamic.js"</a:t>
            </a:r>
          </a:p>
          <a:p>
            <a:r>
              <a:rPr lang="en-US" sz="12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let a = foo()[‘smth’]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71480" y="1234080"/>
            <a:ext cx="2971800" cy="1828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486400" y="3760920"/>
            <a:ext cx="2649960" cy="11696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US" sz="1200" b="1" u="none" strike="noStrike">
                <a:solidFill>
                  <a:srgbClr val="262626"/>
                </a:solidFill>
                <a:effectLst/>
                <a:uFillTx/>
                <a:latin typeface="Courier New"/>
              </a:rPr>
              <a:t>    lda.obj a0</a:t>
            </a:r>
            <a:endParaRPr lang="en-US" sz="1200" b="0" u="none" strike="noStrike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>
                <a:solidFill>
                  <a:srgbClr val="262626"/>
                </a:solidFill>
                <a:effectLst/>
                <a:uFillTx/>
                <a:latin typeface="Courier New"/>
              </a:rPr>
              <a:t>    sta.obj v1</a:t>
            </a:r>
            <a:endParaRPr lang="en-US" sz="1200" b="0" u="none" strike="noStrike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>
                <a:solidFill>
                  <a:srgbClr val="262626"/>
                </a:solidFill>
                <a:effectLst/>
                <a:uFillTx/>
                <a:latin typeface="Courier New"/>
              </a:rPr>
              <a:t>    lda.str "ttt"</a:t>
            </a:r>
            <a:endParaRPr lang="en-US" sz="1200" b="0" u="none" strike="noStrike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>
                <a:solidFill>
                  <a:srgbClr val="262626"/>
                </a:solidFill>
                <a:effectLst/>
                <a:uFillTx/>
                <a:latin typeface="Courier New"/>
              </a:rPr>
              <a:t>    any.stbyname v1, "prop"</a:t>
            </a:r>
            <a:endParaRPr lang="en-US" sz="1200" b="0" u="none" strike="noStrike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200" b="1" u="none" strike="noStrike">
                <a:solidFill>
                  <a:srgbClr val="262626"/>
                </a:solidFill>
                <a:effectLst/>
                <a:uFillTx/>
                <a:latin typeface="Courier New"/>
              </a:rPr>
              <a:t>    return.obj</a:t>
            </a:r>
            <a:endParaRPr lang="en-US" sz="1200" b="0" u="none" strike="noStrike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486400" y="3630960"/>
            <a:ext cx="2649960" cy="13716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89" name="Down Arrow 88"/>
          <p:cNvSpPr/>
          <p:nvPr/>
        </p:nvSpPr>
        <p:spPr>
          <a:xfrm>
            <a:off x="6629400" y="3062880"/>
            <a:ext cx="228600" cy="568080"/>
          </a:xfrm>
          <a:prstGeom prst="downArrow">
            <a:avLst>
              <a:gd name="adj1" fmla="val 50000"/>
              <a:gd name="adj2" fmla="val 62126"/>
            </a:avLst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858000" y="3164400"/>
            <a:ext cx="114048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US" sz="1450" b="0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compilation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1841040"/>
            <a:ext cx="4800600" cy="218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1596"/>
              </a:spcAft>
            </a:pPr>
            <a:r>
              <a:rPr lang="en-US" sz="18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Проверки в абстрактном интерпретаторе</a:t>
            </a:r>
            <a:endParaRPr lang="en-US" sz="180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pPr>
              <a:lnSpc>
                <a:spcPct val="100000"/>
              </a:lnSpc>
              <a:spcAft>
                <a:spcPts val="1596"/>
              </a:spcAft>
            </a:pPr>
            <a:r>
              <a:rPr lang="en-US" sz="1400" b="0" u="none" strike="noStrike">
                <a:solidFill>
                  <a:srgbClr val="111110"/>
                </a:solidFill>
                <a:effectLst/>
                <a:uFillTx/>
                <a:latin typeface="Raleway"/>
              </a:rPr>
              <a:t>- Соответствие структуре</a:t>
            </a:r>
            <a:endParaRPr lang="en-US" sz="140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pPr>
              <a:lnSpc>
                <a:spcPct val="100000"/>
              </a:lnSpc>
              <a:spcAft>
                <a:spcPts val="1596"/>
              </a:spcAft>
            </a:pPr>
            <a:r>
              <a:rPr lang="en-US" sz="1400" b="0" u="none" strike="noStrike">
                <a:solidFill>
                  <a:srgbClr val="111110"/>
                </a:solidFill>
                <a:effectLst/>
                <a:uFillTx/>
                <a:latin typeface="Raleway"/>
              </a:rPr>
              <a:t>- Ресивер – ссылочный тип</a:t>
            </a:r>
            <a:endParaRPr lang="en-US" sz="140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1867215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41440" y="685800"/>
            <a:ext cx="7688160" cy="53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“&lt;&gt;.byname” инструкции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20913" y="1396080"/>
            <a:ext cx="2286000" cy="157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0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class A { foo() { return 1 }}</a:t>
            </a:r>
          </a:p>
          <a:p>
            <a:r>
              <a:rPr lang="en-US" sz="10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class B { foo() { return 2 }}</a:t>
            </a:r>
          </a:p>
          <a:p>
            <a:endParaRPr lang="en-US" sz="1000" b="1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  <a:p>
            <a:r>
              <a:rPr lang="en-US" sz="10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function bar(v : A|B) { </a:t>
            </a:r>
          </a:p>
          <a:p>
            <a:r>
              <a:rPr lang="en-US" sz="10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    v.foo()</a:t>
            </a:r>
          </a:p>
          <a:p>
            <a:r>
              <a:rPr lang="en-US" sz="1000" b="1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}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47468" y="3432060"/>
            <a:ext cx="4458271" cy="102564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0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lda.obj</a:t>
            </a:r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a0</a:t>
            </a:r>
            <a:endParaRPr lang="en-US" sz="1000" b="1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0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sta.obj</a:t>
            </a:r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v1</a:t>
            </a:r>
            <a:endParaRPr lang="en-US" sz="1000" b="1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0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ets.call.name.short</a:t>
            </a:r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</a:t>
            </a:r>
            <a:endParaRPr lang="en-US" sz="1000" b="1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union.%%</a:t>
            </a:r>
            <a:r>
              <a:rPr lang="en-US" sz="10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union_prop-A|B.foo</a:t>
            </a:r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:(union.%%</a:t>
            </a:r>
            <a:r>
              <a:rPr lang="en-US" sz="10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union_prop</a:t>
            </a:r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-A|B), v1</a:t>
            </a:r>
            <a:endParaRPr lang="en-US" sz="1000" b="1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  <a:p>
            <a:r>
              <a:rPr lang="en-US" sz="1000" b="1" u="none" strike="noStrike" dirty="0">
                <a:solidFill>
                  <a:srgbClr val="262626"/>
                </a:solidFill>
                <a:effectLst/>
                <a:uFillTx/>
                <a:latin typeface="Courier New"/>
              </a:rPr>
              <a:t>    </a:t>
            </a:r>
            <a:r>
              <a:rPr lang="en-US" sz="1000" b="1" u="none" strike="noStrike" dirty="0" err="1">
                <a:solidFill>
                  <a:srgbClr val="262626"/>
                </a:solidFill>
                <a:effectLst/>
                <a:uFillTx/>
                <a:latin typeface="Courier New"/>
              </a:rPr>
              <a:t>return.void</a:t>
            </a:r>
            <a:endParaRPr lang="en-US" sz="1000" b="1" u="none" strike="noStrike" dirty="0">
              <a:solidFill>
                <a:srgbClr val="262626"/>
              </a:solidFill>
              <a:effectLst/>
              <a:uFillTx/>
              <a:latin typeface="Courier New"/>
              <a:ea typeface="Courier New"/>
            </a:endParaRPr>
          </a:p>
        </p:txBody>
      </p:sp>
      <p:sp>
        <p:nvSpPr>
          <p:cNvPr id="95" name="Card 94"/>
          <p:cNvSpPr/>
          <p:nvPr/>
        </p:nvSpPr>
        <p:spPr>
          <a:xfrm>
            <a:off x="914400" y="2514600"/>
            <a:ext cx="2514600" cy="1828800"/>
          </a:xfrm>
          <a:prstGeom prst="flowChartPunchedCard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455288" y="3253320"/>
            <a:ext cx="4642632" cy="15472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92313" y="1220400"/>
            <a:ext cx="2514600" cy="1522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cxnSp>
        <p:nvCxnSpPr>
          <p:cNvPr id="98" name="Straight Arrow Connector 97"/>
          <p:cNvCxnSpPr>
            <a:stCxn id="95" idx="3"/>
            <a:endCxn id="95" idx="3"/>
          </p:cNvCxnSpPr>
          <p:nvPr/>
        </p:nvCxnSpPr>
        <p:spPr>
          <a:xfrm>
            <a:off x="3429000" y="3429000"/>
            <a:ext cx="360" cy="360"/>
          </a:xfrm>
          <a:prstGeom prst="straightConnector1">
            <a:avLst/>
          </a:prstGeom>
          <a:ln w="0">
            <a:solidFill>
              <a:srgbClr val="000000"/>
            </a:solidFill>
            <a:tailEnd type="triangle" w="med" len="med"/>
          </a:ln>
        </p:spPr>
      </p:cxnSp>
      <p:sp>
        <p:nvSpPr>
          <p:cNvPr id="99" name="Down Arrow 98"/>
          <p:cNvSpPr/>
          <p:nvPr/>
        </p:nvSpPr>
        <p:spPr>
          <a:xfrm>
            <a:off x="6400800" y="2743200"/>
            <a:ext cx="228600" cy="510120"/>
          </a:xfrm>
          <a:prstGeom prst="downArrow">
            <a:avLst>
              <a:gd name="adj1" fmla="val 50000"/>
              <a:gd name="adj2" fmla="val 55787"/>
            </a:avLst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100" name="Down Arrow 99"/>
          <p:cNvSpPr/>
          <p:nvPr/>
        </p:nvSpPr>
        <p:spPr>
          <a:xfrm>
            <a:off x="7578313" y="2743200"/>
            <a:ext cx="359640" cy="359640"/>
          </a:xfrm>
          <a:prstGeom prst="downArrow">
            <a:avLst>
              <a:gd name="adj1" fmla="val 50000"/>
              <a:gd name="adj2" fmla="val 25000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101" name="Down Arrow 100"/>
          <p:cNvSpPr/>
          <p:nvPr/>
        </p:nvSpPr>
        <p:spPr>
          <a:xfrm>
            <a:off x="7086600" y="3429000"/>
            <a:ext cx="359640" cy="359640"/>
          </a:xfrm>
          <a:prstGeom prst="downArrow">
            <a:avLst>
              <a:gd name="adj1" fmla="val 50000"/>
              <a:gd name="adj2" fmla="val 25000"/>
            </a:avLst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endParaRPr lang="en-US" sz="145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663913" y="2823120"/>
            <a:ext cx="114048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r>
              <a:rPr lang="en-US" sz="1450" b="0" u="none" strike="noStrike">
                <a:solidFill>
                  <a:srgbClr val="111110"/>
                </a:solidFill>
                <a:effectLst/>
                <a:uFillTx/>
                <a:latin typeface="HelveticaNeue"/>
              </a:rPr>
              <a:t>compilation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8600" y="1825920"/>
            <a:ext cx="4343400" cy="233764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1596"/>
              </a:spcAft>
            </a:pP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Проверки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в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абстрактном</a:t>
            </a:r>
            <a:r>
              <a:rPr lang="en-US" sz="1800" b="1" u="none" strike="noStrike" dirty="0">
                <a:solidFill>
                  <a:srgbClr val="2A6099"/>
                </a:solidFill>
                <a:effectLst/>
                <a:uFillTx/>
                <a:latin typeface="Raleway"/>
              </a:rPr>
              <a:t> </a:t>
            </a:r>
            <a:r>
              <a:rPr lang="en-US" sz="1800" b="1" u="none" strike="noStrike" dirty="0" err="1">
                <a:solidFill>
                  <a:srgbClr val="2A6099"/>
                </a:solidFill>
                <a:effectLst/>
                <a:uFillTx/>
                <a:latin typeface="Raleway"/>
              </a:rPr>
              <a:t>интерпретаторе</a:t>
            </a:r>
            <a:endParaRPr lang="en-US" sz="1800" b="0" u="none" strike="noStrike" dirty="0">
              <a:solidFill>
                <a:srgbClr val="111110"/>
              </a:solidFill>
              <a:effectLst/>
              <a:uFillTx/>
              <a:latin typeface="Raleway"/>
            </a:endParaRPr>
          </a:p>
          <a:p>
            <a:pPr>
              <a:spcAft>
                <a:spcPts val="1596"/>
              </a:spcAft>
            </a:pP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-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Соответствие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структуре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-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vf</a:t>
            </a:r>
            <a:endParaRPr lang="en-US" sz="1400" b="0" u="none" strike="noStrike" dirty="0">
              <a:solidFill>
                <a:srgbClr val="111110"/>
              </a:solidFill>
              <a:effectLst/>
              <a:uFillTx/>
              <a:latin typeface="Raleway"/>
            </a:endParaRPr>
          </a:p>
          <a:p>
            <a:pPr>
              <a:spcAft>
                <a:spcPts val="1596"/>
              </a:spcAft>
            </a:pP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-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Наличие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вызываемых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полей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- rt</a:t>
            </a:r>
          </a:p>
          <a:p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-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Соответствие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модификатору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доступа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–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vf</a:t>
            </a:r>
            <a:endParaRPr lang="ru-RU" sz="1400" dirty="0">
              <a:solidFill>
                <a:srgbClr val="111110"/>
              </a:solidFill>
              <a:latin typeface="Raleway"/>
            </a:endParaRPr>
          </a:p>
          <a:p>
            <a:endParaRPr lang="en-US" sz="1400" b="0" u="none" strike="noStrike" dirty="0">
              <a:solidFill>
                <a:srgbClr val="111110"/>
              </a:solidFill>
              <a:effectLst/>
              <a:uFillTx/>
              <a:latin typeface="Raleway"/>
            </a:endParaRPr>
          </a:p>
          <a:p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-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Соответствие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типов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аргументов</a:t>
            </a:r>
            <a:r>
              <a:rPr lang="en-US" sz="1400" b="0" u="none" strike="noStrike" dirty="0">
                <a:solidFill>
                  <a:srgbClr val="111110"/>
                </a:solidFill>
                <a:effectLst/>
                <a:uFillTx/>
                <a:latin typeface="Raleway"/>
              </a:rPr>
              <a:t> - </a:t>
            </a:r>
            <a:r>
              <a:rPr lang="en-US" sz="1400" b="0" u="none" strike="noStrike" dirty="0" err="1">
                <a:solidFill>
                  <a:srgbClr val="111110"/>
                </a:solidFill>
                <a:effectLst/>
                <a:uFillTx/>
                <a:latin typeface="Raleway"/>
              </a:rPr>
              <a:t>vf</a:t>
            </a:r>
            <a:endParaRPr lang="en-US" sz="1400" b="0" u="none" strike="noStrike" dirty="0">
              <a:solidFill>
                <a:srgbClr val="111110"/>
              </a:solidFill>
              <a:effectLst/>
              <a:uFillTx/>
              <a:latin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41440" y="685800"/>
            <a:ext cx="7688160" cy="53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Результаты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2106000" y="1698750"/>
            <a:ext cx="1142640" cy="1142640"/>
          </a:xfrm>
          <a:prstGeom prst="ellipse">
            <a:avLst/>
          </a:prstGeom>
          <a:solidFill>
            <a:srgbClr val="E8F2A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5943600" y="1698750"/>
            <a:ext cx="1142640" cy="1142640"/>
          </a:xfrm>
          <a:prstGeom prst="ellipse">
            <a:avLst/>
          </a:prstGeom>
          <a:solidFill>
            <a:srgbClr val="E8F2A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08"/>
          <p:cNvPicPr/>
          <p:nvPr/>
        </p:nvPicPr>
        <p:blipFill>
          <a:blip r:embed="rId2"/>
          <a:stretch/>
        </p:blipFill>
        <p:spPr>
          <a:xfrm>
            <a:off x="2382480" y="1975230"/>
            <a:ext cx="601560" cy="60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09"/>
          <p:cNvPicPr/>
          <p:nvPr/>
        </p:nvPicPr>
        <p:blipFill>
          <a:blip r:embed="rId3"/>
          <a:stretch/>
        </p:blipFill>
        <p:spPr>
          <a:xfrm>
            <a:off x="6219720" y="1962990"/>
            <a:ext cx="608760" cy="60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Rectangle 110"/>
          <p:cNvSpPr/>
          <p:nvPr/>
        </p:nvSpPr>
        <p:spPr>
          <a:xfrm>
            <a:off x="1143000" y="3527550"/>
            <a:ext cx="2971801" cy="94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Увеличение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множества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HelveticaNeue"/>
            </a:endParaRPr>
          </a:p>
          <a:p>
            <a:pPr algn="ctr">
              <a:lnSpc>
                <a:spcPct val="100000"/>
              </a:lnSpc>
            </a:pP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Верифицируемых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инструкций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.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Увеличило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уровень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безопасности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платформы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HelveticaNeue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029200" y="3611070"/>
            <a:ext cx="3200039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Предоставило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новые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возможности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для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отладки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фронтенда</a:t>
            </a:r>
            <a:r>
              <a:rPr lang="en-US" sz="1400" b="0" u="none" strike="noStrike" dirty="0">
                <a:solidFill>
                  <a:srgbClr val="53535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535353"/>
                </a:solidFill>
                <a:effectLst/>
                <a:uFillTx/>
                <a:latin typeface="Arial"/>
              </a:rPr>
              <a:t>яп</a:t>
            </a:r>
            <a:endParaRPr lang="en-US" sz="1400" b="0" u="none" strike="noStrike" dirty="0">
              <a:solidFill>
                <a:srgbClr val="535353"/>
              </a:solidFill>
              <a:effectLst/>
              <a:uFillTx/>
              <a:latin typeface="HelveticaNeue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842480" y="2952630"/>
            <a:ext cx="15861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Безопасность</a:t>
            </a:r>
            <a:endParaRPr lang="en-US" sz="160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5871600" y="2982870"/>
            <a:ext cx="13226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2A6099"/>
                </a:solidFill>
                <a:effectLst/>
                <a:uFillTx/>
                <a:latin typeface="Arial"/>
              </a:rPr>
              <a:t>Разработка</a:t>
            </a:r>
            <a:endParaRPr lang="en-US" sz="1600" b="0" u="none" strike="noStrike">
              <a:solidFill>
                <a:srgbClr val="111110"/>
              </a:solidFill>
              <a:effectLst/>
              <a:uFillTx/>
              <a:latin typeface="Helvetica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29360" y="1318320"/>
            <a:ext cx="7688160" cy="53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rgbClr val="2A6099"/>
                </a:solidFill>
                <a:effectLst/>
                <a:uFillTx/>
                <a:latin typeface="Raleway"/>
              </a:rPr>
              <a:t>Заключение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85800" y="2743200"/>
            <a:ext cx="7688160" cy="226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lstStyle/>
          <a:p>
            <a:pPr indent="0" algn="ctr">
              <a:spcBef>
                <a:spcPts val="1417"/>
              </a:spcBef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800" b="0" u="none" strike="noStrike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Цели работы были успешно достигнуты</a:t>
            </a:r>
          </a:p>
          <a:p>
            <a:pPr indent="0" algn="ctr">
              <a:spcBef>
                <a:spcPts val="1417"/>
              </a:spcBef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1800" b="0" u="none" strike="noStrike">
                <a:solidFill>
                  <a:srgbClr val="535353"/>
                </a:solidFill>
                <a:effectLst/>
                <a:uFillTx/>
                <a:latin typeface="Arial"/>
                <a:ea typeface="Arial"/>
              </a:rPr>
              <a:t>Система внедрена в существующий открытый 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3103</TotalTime>
  <Words>649</Words>
  <Application>Microsoft Macintosh PowerPoint</Application>
  <PresentationFormat>On-screen Show (16:9)</PresentationFormat>
  <Paragraphs>143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Courier New</vt:lpstr>
      <vt:lpstr>HelveticaNeue</vt:lpstr>
      <vt:lpstr>Lato</vt:lpstr>
      <vt:lpstr>Raleway</vt:lpstr>
      <vt:lpstr>Symbol</vt:lpstr>
      <vt:lpstr>Times New Roman</vt:lpstr>
      <vt:lpstr>Wingdings</vt:lpstr>
      <vt:lpstr>Streamline</vt:lpstr>
      <vt:lpstr>Streamline</vt:lpstr>
      <vt:lpstr>Streamline</vt:lpstr>
      <vt:lpstr>Streamline</vt:lpstr>
      <vt:lpstr>PowerPoint Presentation</vt:lpstr>
      <vt:lpstr>Постановка проблемы и актуальность</vt:lpstr>
      <vt:lpstr>Цели и задачи</vt:lpstr>
      <vt:lpstr>PowerPoint Presentation</vt:lpstr>
      <vt:lpstr>Что такое верификатор?</vt:lpstr>
      <vt:lpstr>Что такое верификатор?</vt:lpstr>
      <vt:lpstr>Абстрактная интерпретация</vt:lpstr>
      <vt:lpstr>Абстрактная интерпретация</vt:lpstr>
      <vt:lpstr>Абстрактная интерпретация</vt:lpstr>
      <vt:lpstr>Абстрактная интерпретация</vt:lpstr>
      <vt:lpstr>“any” инструкции  </vt:lpstr>
      <vt:lpstr>“&lt;&gt;.byname” инструкции</vt:lpstr>
      <vt:lpstr>Результаты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Max Groshev</cp:lastModifiedBy>
  <cp:revision>17</cp:revision>
  <dcterms:modified xsi:type="dcterms:W3CDTF">2026-04-01T20:54:12Z</dcterms:modified>
  <dc:language>en-US</dc:language>
</cp:coreProperties>
</file>